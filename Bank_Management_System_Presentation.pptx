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852160" cy="5394960"/>
          </a:xfrm>
          <a:prstGeom prst="roundRect">
            <a:avLst/>
          </a:prstGeom>
          <a:solidFill>
            <a:srgbClr val="10182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CS207 DATA STRUCTURES &amp; ALGORITHMS PROJECT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BANK MANAGEMENT SYSTEM</a:t>
            </a:r>
          </a:p>
          <a:p>
            <a:pPr>
              <a:defRPr sz="1400">
                <a:solidFill>
                  <a:srgbClr val="F59E0B"/>
                </a:solidFill>
                <a:latin typeface="Arial"/>
              </a:defRPr>
            </a:pPr>
            <a:r>
              <a:t>Full-Stack C++ Engine &amp; Cloud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971800"/>
            <a:ext cx="5303520" cy="182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PROJECT GROUP MEMBERS:</a:t>
            </a:r>
          </a:p>
          <a:p>
            <a:r>
              <a:rPr b="1" sz="1200">
                <a:solidFill>
                  <a:srgbClr val="F8FAFC"/>
                </a:solidFill>
              </a:rPr>
              <a:t>• 1. Manikanta  </a:t>
            </a:r>
            <a:r>
              <a:rPr sz="1100">
                <a:solidFill>
                  <a:srgbClr val="94A3B8"/>
                </a:solidFill>
              </a:rPr>
              <a:t>(Student 1)</a:t>
            </a:r>
          </a:p>
          <a:p>
            <a:r>
              <a:rPr b="1" sz="1200">
                <a:solidFill>
                  <a:srgbClr val="F8FAFC"/>
                </a:solidFill>
              </a:rPr>
              <a:t>• 2. Lokesh  </a:t>
            </a:r>
            <a:r>
              <a:rPr sz="1100">
                <a:solidFill>
                  <a:srgbClr val="94A3B8"/>
                </a:solidFill>
              </a:rPr>
              <a:t>(Student 2)</a:t>
            </a:r>
          </a:p>
          <a:p>
            <a:r>
              <a:rPr b="1" sz="1200">
                <a:solidFill>
                  <a:srgbClr val="F8FAFC"/>
                </a:solidFill>
              </a:rPr>
              <a:t>• 3. Anil  </a:t>
            </a:r>
            <a:r>
              <a:rPr sz="1100">
                <a:solidFill>
                  <a:srgbClr val="94A3B8"/>
                </a:solidFill>
              </a:rPr>
              <a:t>(Student 3)</a:t>
            </a:r>
          </a:p>
          <a:p>
            <a:r>
              <a:rPr b="1" sz="1200">
                <a:solidFill>
                  <a:srgbClr val="F8FAFC"/>
                </a:solidFill>
              </a:rPr>
              <a:t>• 4. Shishira  </a:t>
            </a:r>
            <a:r>
              <a:rPr sz="1100">
                <a:solidFill>
                  <a:srgbClr val="94A3B8"/>
                </a:solidFill>
              </a:rPr>
              <a:t>(Student 4)</a:t>
            </a:r>
          </a:p>
          <a:p>
            <a:r>
              <a:rPr b="1" sz="1200">
                <a:solidFill>
                  <a:srgbClr val="F8FAFC"/>
                </a:solidFill>
              </a:rPr>
              <a:t>• 5. Chathwik  </a:t>
            </a:r>
            <a:r>
              <a:rPr sz="1100">
                <a:solidFill>
                  <a:srgbClr val="94A3B8"/>
                </a:solidFill>
              </a:rPr>
              <a:t>(Student 5)</a:t>
            </a:r>
          </a:p>
        </p:txBody>
      </p:sp>
      <p:pic>
        <p:nvPicPr>
          <p:cNvPr id="7" name="Picture 6" descr="banking_hero_3d_17910458178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4602175" cy="5394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Overview &amp; Engineering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1. 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Bridging Theory and Practice: </a:t>
            </a:r>
            <a:r>
              <a:rPr sz="1300">
                <a:solidFill>
                  <a:srgbClr val="94A3B8"/>
                </a:solidFill>
              </a:rPr>
              <a:t>Traditional academic DSA assignments are often isolated code snippets. This project binds all concepts into a unified banking software ecosystem.</a:t>
            </a:r>
          </a:p>
          <a:p>
            <a:r>
              <a:rPr b="1" sz="1300">
                <a:solidFill>
                  <a:srgbClr val="F8FAFC"/>
                </a:solidFill>
              </a:rPr>
              <a:t>• Financial Precision: </a:t>
            </a:r>
            <a:r>
              <a:rPr sz="1300">
                <a:solidFill>
                  <a:srgbClr val="94A3B8"/>
                </a:solidFill>
              </a:rPr>
              <a:t>Eliminates floating-point rounding errors by utilizing integer paise calculations (`balancePaise`) for exact currency accounting.</a:t>
            </a:r>
          </a:p>
          <a:p>
            <a:r>
              <a:rPr b="1" sz="1300">
                <a:solidFill>
                  <a:srgbClr val="F8FAFC"/>
                </a:solidFill>
              </a:rPr>
              <a:t>• Multi-Developer Synergy: </a:t>
            </a:r>
            <a:r>
              <a:rPr sz="1300">
                <a:solidFill>
                  <a:srgbClr val="94A3B8"/>
                </a:solidFill>
              </a:rPr>
              <a:t>Modularized across 5 team members with zero variable pollution or header compilation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2. Core Deliverables &amp;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100% Syllabus Coverage: </a:t>
            </a:r>
            <a:r>
              <a:rPr sz="1300">
                <a:solidFill>
                  <a:srgbClr val="94A3B8"/>
                </a:solidFill>
              </a:rPr>
              <a:t>Covers Arrays, Structs, Linear/Binary Search, Insertion Sort, 2D Matrices, Strings, Stacks, Queues, and STL Containers.</a:t>
            </a:r>
          </a:p>
          <a:p>
            <a:r>
              <a:rPr b="1" sz="1300">
                <a:solidFill>
                  <a:srgbClr val="F8FAFC"/>
                </a:solidFill>
              </a:rPr>
              <a:t>• Modular Multi-File C++: </a:t>
            </a:r>
            <a:r>
              <a:rPr sz="1300">
                <a:solidFill>
                  <a:srgbClr val="94A3B8"/>
                </a:solidFill>
              </a:rPr>
              <a:t>Organized into `bank.h` and `student1.cpp` through `student5.cpp` for individual student evaluation.</a:t>
            </a:r>
          </a:p>
          <a:p>
            <a:r>
              <a:rPr b="1" sz="1300">
                <a:solidFill>
                  <a:srgbClr val="F8FAFC"/>
                </a:solidFill>
              </a:rPr>
              <a:t>• Full-Stack Web Interface: </a:t>
            </a:r>
            <a:r>
              <a:rPr sz="1300">
                <a:solidFill>
                  <a:srgbClr val="94A3B8"/>
                </a:solidFill>
              </a:rPr>
              <a:t>Paired with a modern React Vite dashboard, REST backend, and MongoDB Atlas dual-sync persistence.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ARCHITECTURE &amp; TECHNOLOGY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Full-Stack System Architecture &amp; 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Core C++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Modular 5-file C++ build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student1.cpp to student5.cpp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In-memory Data Structures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Fast O(1) / O(log n) logic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Zero memory leak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51460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Node.js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Express Server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REST API CRUD routes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Atomic Deposit &amp; Withdraw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Ledger Audit log dispatch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Auto-reconnect 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51460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React 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React 19 + Vite 8 SPA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Glassmorphic Dark UI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6-Account Pagination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Money Studio deposit flow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Toast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71600"/>
            <a:ext cx="251460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Cloud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MongoDB Atlas Cluster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Mongoose Schema Validation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Localhost data.json fallback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Immutable Transaction log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Fault-tolerant Dual Sync</a:t>
            </a:r>
          </a:p>
        </p:txBody>
      </p:sp>
    </p:spTree>
  </p:cSld>
  <p:clrMapOvr>
    <a:masterClrMapping/>
  </p:clrMapOvr>
  <p:transition spd="fast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5-STUDENT WORK BREAKDOWN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Team Division &amp; Student Responsibilities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2286000"/>
                <a:gridCol w="414497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Module Focus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DSA Concepts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Key Deliverables &amp; Functions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Manikanta</a:t>
                      </a:r>
                      <a:br/>
                      <a:r>
                        <a:t>(Student 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Account Management &amp;</a:t>
                      </a:r>
                      <a:br/>
                      <a:r>
                        <a:t>Composite Structures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Modules I, II, VI</a:t>
                      </a:r>
                      <a:br/>
                      <a:r>
                        <a:t>Struct Nesting &amp; Vectors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seedInitialData(), displayAllCustomers(), addNewCustomer(), Date/Address Structs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Lokesh</a:t>
                      </a:r>
                      <a:br/>
                      <a:r>
                        <a:t>(Student 2)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Financial Transactions &amp;</a:t>
                      </a:r>
                      <a:br/>
                      <a:r>
                        <a:t>Search Algorithms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Modules II, III, VII</a:t>
                      </a:r>
                      <a:br/>
                      <a:r>
                        <a:t>Linear &amp; Binary Search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linearSearchByPhone() O(n), binarySearchByAccountNo() O(log n), depositFunds(), withdrawFunds()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Anil</a:t>
                      </a:r>
                      <a:br/>
                      <a:r>
                        <a:t>(Student 3)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Sorting Algorithms &amp;</a:t>
                      </a:r>
                      <a:br/>
                      <a:r>
                        <a:t>2D Matrix Algebra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Modules III, IV, VII</a:t>
                      </a:r>
                      <a:br/>
                      <a:r>
                        <a:t>Insertion Sort &amp; 2D Array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insertionSortByBalance() O(n^2), sortCustomers(), Matrix Add/Sub/Mult/Transpose demo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Shishira</a:t>
                      </a:r>
                      <a:br/>
                      <a:r>
                        <a:t>(Student 4)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String Processing &amp;</a:t>
                      </a:r>
                      <a:br/>
                      <a:r>
                        <a:t>Stack ADT (LIFO)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Modules V, VIII</a:t>
                      </a:r>
                      <a:br/>
                      <a:r>
                        <a:t>Strings &amp; Stack (LIFO)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reverseString(), countCharacterFrequency(), searchPattern(), Stack ADT &amp; Parenthesis Check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Chathwik</a:t>
                      </a:r>
                      <a:br/>
                      <a:r>
                        <a:t>(Student 5)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Queue ADT, STL &amp;</a:t>
                      </a:r>
                      <a:br/>
                      <a:r>
                        <a:t>Driver Controller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Modules I, II, IX, X</a:t>
                      </a:r>
                      <a:br/>
                      <a:r>
                        <a:t>Queues &amp; STL Library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LinearQueue, CircularQueue with Modulo %, vector/pair/deque/set/map demos, main() menu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MODULES I, II, VI — STUDENT1.CPP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Student 1: Manikanta — Account Management &amp; Structs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Core Composite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Composite Entity Architecture: </a:t>
            </a:r>
            <a:r>
              <a:rPr sz="1300">
                <a:solidFill>
                  <a:srgbClr val="94A3B8"/>
                </a:solidFill>
              </a:rPr>
              <a:t>Defined `Customer` struct combining primitive types with nested `Date` (day, month, year) and `Address` (city, state, pincode) structs.</a:t>
            </a:r>
          </a:p>
          <a:p>
            <a:r>
              <a:rPr b="1" sz="1300">
                <a:solidFill>
                  <a:srgbClr val="F8FAFC"/>
                </a:solidFill>
              </a:rPr>
              <a:t>• Audit Record Entity: </a:t>
            </a:r>
            <a:r>
              <a:rPr sz="1300">
                <a:solidFill>
                  <a:srgbClr val="94A3B8"/>
                </a:solidFill>
              </a:rPr>
              <a:t>Engineered `Transaction` struct recording `txnId`, `accountNo`, `type` (OPENING, DEPOSIT, WITHDRAW), `amount`, and `balanceAfter`.</a:t>
            </a:r>
          </a:p>
          <a:p>
            <a:r>
              <a:rPr b="1" sz="1300">
                <a:solidFill>
                  <a:srgbClr val="F8FAFC"/>
                </a:solidFill>
              </a:rPr>
              <a:t>• Global Data Storage: </a:t>
            </a:r>
            <a:r>
              <a:rPr sz="1300">
                <a:solidFill>
                  <a:srgbClr val="94A3B8"/>
                </a:solidFill>
              </a:rPr>
              <a:t>Maintains master collections `customerList` and `transactionList` vectors with auto-increment ID 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Key Functions &amp; Implementations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seedInitialData(): </a:t>
            </a:r>
            <a:r>
              <a:rPr sz="1300">
                <a:solidFill>
                  <a:srgbClr val="94A3B8"/>
                </a:solidFill>
              </a:rPr>
              <a:t>Pre-populates the database with 6 benchmark customer records and initial transaction audit logs for instant demonstration.</a:t>
            </a:r>
          </a:p>
          <a:p>
            <a:r>
              <a:rPr b="1" sz="1300">
                <a:solidFill>
                  <a:srgbClr val="F8FAFC"/>
                </a:solidFill>
              </a:rPr>
              <a:t>• displayAllCustomers(): </a:t>
            </a:r>
            <a:r>
              <a:rPr sz="1300">
                <a:solidFill>
                  <a:srgbClr val="94A3B8"/>
                </a:solidFill>
              </a:rPr>
              <a:t>Generates formatted tabular reports using `&lt;iomanip&gt;` (`setw`, `left`, `right`, `fixed`, `setprecision`).</a:t>
            </a:r>
          </a:p>
          <a:p>
            <a:r>
              <a:rPr b="1" sz="1300">
                <a:solidFill>
                  <a:srgbClr val="F8FAFC"/>
                </a:solidFill>
              </a:rPr>
              <a:t>• addNewCustomer(): </a:t>
            </a:r>
            <a:r>
              <a:rPr sz="1300">
                <a:solidFill>
                  <a:srgbClr val="94A3B8"/>
                </a:solidFill>
              </a:rPr>
              <a:t>Enforces strict input validation: minimum ₹500 initial deposit for SAVINGS accounts, verifies phone uniqueness, and auto-journals the opening transaction.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MODULES II, III, VII — STUDENT2.CPP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Student 2: Lokesh — Search Algorithms &amp;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Searching Algorithms &amp;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Linear Search (Phone Numbers): </a:t>
            </a:r>
            <a:r>
              <a:rPr sz="1300">
                <a:solidFill>
                  <a:srgbClr val="94A3B8"/>
                </a:solidFill>
              </a:rPr>
              <a:t>Performs sequential scan across unsorted `phone` records. Time Complexity: O(n), Space Complexity: O(1). Used for duplicate phone checks.</a:t>
            </a:r>
          </a:p>
          <a:p>
            <a:r>
              <a:rPr b="1" sz="1300">
                <a:solidFill>
                  <a:srgbClr val="F8FAFC"/>
                </a:solidFill>
              </a:rPr>
              <a:t>• Binary Search (Account Numbers): </a:t>
            </a:r>
            <a:r>
              <a:rPr sz="1300">
                <a:solidFill>
                  <a:srgbClr val="94A3B8"/>
                </a:solidFill>
              </a:rPr>
              <a:t>Divide-and-conquer search on sorted `accountNo`. Computes `mid = low + (high - low) / 2` to eliminate half the search space per iteration. Time Complexity: O(log n), Space: O(1).</a:t>
            </a:r>
          </a:p>
          <a:p>
            <a:r>
              <a:rPr b="1" sz="1300">
                <a:solidFill>
                  <a:srgbClr val="F8FAFC"/>
                </a:solidFill>
              </a:rPr>
              <a:t>• Lookup Efficiency: </a:t>
            </a:r>
            <a:r>
              <a:rPr sz="1300">
                <a:solidFill>
                  <a:srgbClr val="94A3B8"/>
                </a:solidFill>
              </a:rPr>
              <a:t>Guarantees logarithmic response time even with large account volumes.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Financial Transactions &amp;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depositFunds(): </a:t>
            </a:r>
            <a:r>
              <a:rPr sz="1300">
                <a:solidFill>
                  <a:srgbClr val="94A3B8"/>
                </a:solidFill>
              </a:rPr>
              <a:t>Locates account via Binary Search, increases balance, and journals transaction log to `transactionList`.</a:t>
            </a:r>
          </a:p>
          <a:p>
            <a:r>
              <a:rPr b="1" sz="1300">
                <a:solidFill>
                  <a:srgbClr val="F8FAFC"/>
                </a:solidFill>
              </a:rPr>
              <a:t>• withdrawFunds(): </a:t>
            </a:r>
            <a:r>
              <a:rPr sz="1300">
                <a:solidFill>
                  <a:srgbClr val="94A3B8"/>
                </a:solidFill>
              </a:rPr>
              <a:t>Validates positive amount, overdraft protection, and enforces that SAVINGS account balance cannot fall below ₹500.00.</a:t>
            </a:r>
          </a:p>
          <a:p>
            <a:r>
              <a:rPr b="1" sz="1300">
                <a:solidFill>
                  <a:srgbClr val="F8FAFC"/>
                </a:solidFill>
              </a:rPr>
              <a:t>• viewTransactionHistory(): </a:t>
            </a:r>
            <a:r>
              <a:rPr sz="1300">
                <a:solidFill>
                  <a:srgbClr val="94A3B8"/>
                </a:solidFill>
              </a:rPr>
              <a:t>Displays chronological transaction ledger for any account with timestamp, amount, and updated balance.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MODULES III, IV, VII — STUDENT3.CPP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Student 3: Anil — Sorting Algorithms &amp; 2D Matrix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Insertion Sort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Mechanics: </a:t>
            </a:r>
            <a:r>
              <a:rPr sz="1300">
                <a:solidFill>
                  <a:srgbClr val="94A3B8"/>
                </a:solidFill>
              </a:rPr>
              <a:t>Maintains a sorted subarray on the left and iteratively inserts incoming elements by shifting adjacent elements right.</a:t>
            </a:r>
          </a:p>
          <a:p>
            <a:r>
              <a:rPr b="1" sz="1300">
                <a:solidFill>
                  <a:srgbClr val="F8FAFC"/>
                </a:solidFill>
              </a:rPr>
              <a:t>• Bidirectional Support: </a:t>
            </a:r>
            <a:r>
              <a:rPr sz="1300">
                <a:solidFill>
                  <a:srgbClr val="94A3B8"/>
                </a:solidFill>
              </a:rPr>
              <a:t>Supports Ascending (lowest to highest balance) and Descending (highest to lowest balance) sorting.</a:t>
            </a:r>
          </a:p>
          <a:p>
            <a:r>
              <a:rPr b="1" sz="1300">
                <a:solidFill>
                  <a:srgbClr val="F8FAFC"/>
                </a:solidFill>
              </a:rPr>
              <a:t>• Complexity: </a:t>
            </a:r>
            <a:r>
              <a:rPr sz="1300">
                <a:solidFill>
                  <a:srgbClr val="94A3B8"/>
                </a:solidFill>
              </a:rPr>
              <a:t>Best Case: O(n) when already sorted. Worst/Average: O(n^2). Auxiliary Space: O(1) in-place sort.</a:t>
            </a:r>
          </a:p>
          <a:p>
            <a:r>
              <a:rPr b="1" sz="1300">
                <a:solidFill>
                  <a:srgbClr val="F8FAFC"/>
                </a:solidFill>
              </a:rPr>
              <a:t>• Practical Role: </a:t>
            </a:r>
            <a:r>
              <a:rPr sz="1300">
                <a:solidFill>
                  <a:srgbClr val="94A3B8"/>
                </a:solidFill>
              </a:rPr>
              <a:t>Enables portfolio rank ordering to identify high-net-worth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2D Numeric Array Matrix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Branch Cash Flow Modeling: </a:t>
            </a:r>
            <a:r>
              <a:rPr sz="1300">
                <a:solidFill>
                  <a:srgbClr val="94A3B8"/>
                </a:solidFill>
              </a:rPr>
              <a:t>Simulates regional branch liquidity using 2x2 integer matrices (`int mat[2][2]`).</a:t>
            </a:r>
          </a:p>
          <a:p>
            <a:r>
              <a:rPr b="1" sz="1300">
                <a:solidFill>
                  <a:srgbClr val="F8FAFC"/>
                </a:solidFill>
              </a:rPr>
              <a:t>• 1. Matrix Addition (A + B): </a:t>
            </a:r>
            <a:r>
              <a:rPr sz="1300">
                <a:solidFill>
                  <a:srgbClr val="94A3B8"/>
                </a:solidFill>
              </a:rPr>
              <a:t>Consolidates total cash reserves across Branch A and Branch B.</a:t>
            </a:r>
          </a:p>
          <a:p>
            <a:r>
              <a:rPr b="1" sz="1300">
                <a:solidFill>
                  <a:srgbClr val="F8FAFC"/>
                </a:solidFill>
              </a:rPr>
              <a:t>• 2. Matrix Subtraction (A - B): </a:t>
            </a:r>
            <a:r>
              <a:rPr sz="1300">
                <a:solidFill>
                  <a:srgbClr val="94A3B8"/>
                </a:solidFill>
              </a:rPr>
              <a:t>Evaluates regional asset variance and cash disparities.</a:t>
            </a:r>
          </a:p>
          <a:p>
            <a:r>
              <a:rPr b="1" sz="1300">
                <a:solidFill>
                  <a:srgbClr val="F8FAFC"/>
                </a:solidFill>
              </a:rPr>
              <a:t>• 3. Matrix Multiplication (A * B): </a:t>
            </a:r>
            <a:r>
              <a:rPr sz="1300">
                <a:solidFill>
                  <a:srgbClr val="94A3B8"/>
                </a:solidFill>
              </a:rPr>
              <a:t>Projects compounded multi-period financial liquidity.</a:t>
            </a:r>
          </a:p>
          <a:p>
            <a:r>
              <a:rPr b="1" sz="1300">
                <a:solidFill>
                  <a:srgbClr val="F8FAFC"/>
                </a:solidFill>
              </a:rPr>
              <a:t>• 4. Matrix Transpose (A^T): </a:t>
            </a:r>
            <a:r>
              <a:rPr sz="1300">
                <a:solidFill>
                  <a:srgbClr val="94A3B8"/>
                </a:solidFill>
              </a:rPr>
              <a:t>Exchanges rows and columns for multidimensional financial reporting.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MODULES V, VIII — STUDENT4.CPP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Student 4: Shishira — String Processing &amp; Stack ADT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String Algorithms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In-Place String Reversal: </a:t>
            </a:r>
            <a:r>
              <a:rPr sz="1300">
                <a:solidFill>
                  <a:srgbClr val="94A3B8"/>
                </a:solidFill>
              </a:rPr>
              <a:t>Swaps `str[i]` with `str[n-1-i]` moving towards center with O(n/2) = O(n) time and O(1) space.</a:t>
            </a:r>
          </a:p>
          <a:p>
            <a:r>
              <a:rPr b="1" sz="1300">
                <a:solidFill>
                  <a:srgbClr val="F8FAFC"/>
                </a:solidFill>
              </a:rPr>
              <a:t>• Character Frequency Histogram: </a:t>
            </a:r>
            <a:r>
              <a:rPr sz="1300">
                <a:solidFill>
                  <a:srgbClr val="94A3B8"/>
                </a:solidFill>
              </a:rPr>
              <a:t>Direct-address 256-bucket ASCII array counting character distribution in customer names.</a:t>
            </a:r>
          </a:p>
          <a:p>
            <a:r>
              <a:rPr b="1" sz="1300">
                <a:solidFill>
                  <a:srgbClr val="F8FAFC"/>
                </a:solidFill>
              </a:rPr>
              <a:t>• Naive Substring Matching: </a:t>
            </a:r>
            <a:r>
              <a:rPr sz="1300">
                <a:solidFill>
                  <a:srgbClr val="94A3B8"/>
                </a:solidFill>
              </a:rPr>
              <a:t>Sliding-window pattern search verifying account codes and transaction identifiers.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Stack Abstract Data Type (LIFO)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Array-Based Stack ADT: </a:t>
            </a:r>
            <a:r>
              <a:rPr sz="1300">
                <a:solidFill>
                  <a:srgbClr val="94A3B8"/>
                </a:solidFill>
              </a:rPr>
              <a:t>Implements `SimpleStack` structure with `top` index pointer managing Last-In, First-Out (LIFO) order.</a:t>
            </a:r>
          </a:p>
          <a:p>
            <a:r>
              <a:rPr b="1" sz="1300">
                <a:solidFill>
                  <a:srgbClr val="F8FAFC"/>
                </a:solidFill>
              </a:rPr>
              <a:t>• Stack Primitives: </a:t>
            </a:r>
            <a:r>
              <a:rPr sz="1300">
                <a:solidFill>
                  <a:srgbClr val="94A3B8"/>
                </a:solidFill>
              </a:rPr>
              <a:t>`initStack()`, `isStackEmpty()`, `isStackFull()`, `push()` with Overflow check, and `pop()` with Underflow guard.</a:t>
            </a:r>
          </a:p>
          <a:p>
            <a:r>
              <a:rPr b="1" sz="1300">
                <a:solidFill>
                  <a:srgbClr val="F8FAFC"/>
                </a:solidFill>
              </a:rPr>
              <a:t>• Parentheses Balance Checker: </a:t>
            </a:r>
            <a:r>
              <a:rPr sz="1300">
                <a:solidFill>
                  <a:srgbClr val="94A3B8"/>
                </a:solidFill>
              </a:rPr>
              <a:t>Real-world stack application checking expression balance (e.g. `(A+B)*(C-D)`) for mathematical formula integrity in interest calculations.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MODULES I, II, IX, X — STUDENT5.CPP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Student 5: Chathwik — Queue ADT, STL &amp; Driver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Queue ADT (Linear &amp; Circular)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Linear Queue (FIFO): </a:t>
            </a:r>
            <a:r>
              <a:rPr sz="1300">
                <a:solidFill>
                  <a:srgbClr val="94A3B8"/>
                </a:solidFill>
              </a:rPr>
              <a:t>Implements `LinearQueue` with `front` and `rear` pointers for bank teller customer token management.</a:t>
            </a:r>
          </a:p>
          <a:p>
            <a:r>
              <a:rPr b="1" sz="1300">
                <a:solidFill>
                  <a:srgbClr val="F8FAFC"/>
                </a:solidFill>
              </a:rPr>
              <a:t>• Circular Queue (Modulo Wraparound): </a:t>
            </a:r>
            <a:r>
              <a:rPr sz="1300">
                <a:solidFill>
                  <a:srgbClr val="94A3B8"/>
                </a:solidFill>
              </a:rPr>
              <a:t>Solves linear queue false-overflow using modulo arithmetic: `rear = (rear + 1) % MAX`.</a:t>
            </a:r>
          </a:p>
          <a:p>
            <a:r>
              <a:rPr b="1" sz="1300">
                <a:solidFill>
                  <a:srgbClr val="F8FAFC"/>
                </a:solidFill>
              </a:rPr>
              <a:t>• Optimal Efficiency: </a:t>
            </a:r>
            <a:r>
              <a:rPr sz="1300">
                <a:solidFill>
                  <a:srgbClr val="94A3B8"/>
                </a:solidFill>
              </a:rPr>
              <a:t>`circularEnqueue()` and `circularDequeue()` run in guaranteed O(1)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STL Containers &amp; Main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STL Demonstration (Module X): </a:t>
            </a:r>
            <a:r>
              <a:rPr sz="1300">
                <a:solidFill>
                  <a:srgbClr val="94A3B8"/>
                </a:solidFill>
              </a:rPr>
              <a:t>Showcases `std::vector` + `std::pair` (account &amp; balance), `std::deque` (VIP priority lines), `std::set` (unique phone numbers), and `std::map` (O(log n) account lookups).</a:t>
            </a:r>
          </a:p>
          <a:p>
            <a:r>
              <a:rPr b="1" sz="1300">
                <a:solidFill>
                  <a:srgbClr val="F8FAFC"/>
                </a:solidFill>
              </a:rPr>
              <a:t>• Console Menu Interface: </a:t>
            </a:r>
            <a:r>
              <a:rPr sz="1300">
                <a:solidFill>
                  <a:srgbClr val="94A3B8"/>
                </a:solidFill>
              </a:rPr>
              <a:t>14-option interactive console menu cleanly categorized by student responsibilities.</a:t>
            </a:r>
          </a:p>
          <a:p>
            <a:r>
              <a:rPr b="1" sz="1300">
                <a:solidFill>
                  <a:srgbClr val="F8FAFC"/>
                </a:solidFill>
              </a:rPr>
              <a:t>• Main Application Driver: </a:t>
            </a:r>
            <a:r>
              <a:rPr sz="1300">
                <a:solidFill>
                  <a:srgbClr val="94A3B8"/>
                </a:solidFill>
              </a:rPr>
              <a:t>Central execution event loop handling error checking and routing requests to all 5 student modules.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VISUAL ALGORITHMIC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Data Structures &amp; Algorithmic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Core Algorithmic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Binary Search Tree Logic: </a:t>
            </a:r>
            <a:r>
              <a:rPr sz="1300">
                <a:solidFill>
                  <a:srgbClr val="94A3B8"/>
                </a:solidFill>
              </a:rPr>
              <a:t>Fast divide-and-conquer lookups guaranteeing O(log n) performance for customer identification.</a:t>
            </a:r>
          </a:p>
          <a:p>
            <a:r>
              <a:rPr b="1" sz="1300">
                <a:solidFill>
                  <a:srgbClr val="F8FAFC"/>
                </a:solidFill>
              </a:rPr>
              <a:t>• LIFO Stack Primitives: </a:t>
            </a:r>
            <a:r>
              <a:rPr sz="1300">
                <a:solidFill>
                  <a:srgbClr val="94A3B8"/>
                </a:solidFill>
              </a:rPr>
              <a:t>Memory-safe push and pop execution for financial formula validation.</a:t>
            </a:r>
          </a:p>
          <a:p>
            <a:r>
              <a:rPr b="1" sz="1300">
                <a:solidFill>
                  <a:srgbClr val="F8FAFC"/>
                </a:solidFill>
              </a:rPr>
              <a:t>• FIFO &amp; Circular Queues: </a:t>
            </a:r>
            <a:r>
              <a:rPr sz="1300">
                <a:solidFill>
                  <a:srgbClr val="94A3B8"/>
                </a:solidFill>
              </a:rPr>
              <a:t>Modulo wrap-around token dispatching for zero memory wastage.</a:t>
            </a:r>
          </a:p>
          <a:p>
            <a:r>
              <a:rPr b="1" sz="1300">
                <a:solidFill>
                  <a:srgbClr val="F8FAFC"/>
                </a:solidFill>
              </a:rPr>
              <a:t>• STL Red-Black Tree Maps: </a:t>
            </a:r>
            <a:r>
              <a:rPr sz="1300">
                <a:solidFill>
                  <a:srgbClr val="94A3B8"/>
                </a:solidFill>
              </a:rPr>
              <a:t>High-speed key-value lookups linking account numbers directly to customer names.</a:t>
            </a:r>
          </a:p>
        </p:txBody>
      </p:sp>
      <p:pic>
        <p:nvPicPr>
          <p:cNvPr id="9" name="Picture 8" descr="dsa_algorithms_3d_17910458414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937760"/>
          </a:xfrm>
          <a:prstGeom prst="rect">
            <a:avLst/>
          </a:prstGeom>
        </p:spPr>
      </p:pic>
    </p:spTree>
  </p:cSld>
  <p:clrMapOvr>
    <a:masterClrMapping/>
  </p:clrMapOvr>
  <p:transition spd="fast">
    <p:wheel spokes="4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REACT 19 + VITE 8 UI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Modern Web Dashboard &amp; User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User Experience Innovations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Initial 6-Account Pagination: </a:t>
            </a:r>
            <a:r>
              <a:rPr sz="1300">
                <a:solidFill>
                  <a:srgbClr val="94A3B8"/>
                </a:solidFill>
              </a:rPr>
              <a:t>Renders first 6 accounts on load (`slice(0, 6)`) to maintain clean visual balance.</a:t>
            </a:r>
          </a:p>
          <a:p>
            <a:r>
              <a:rPr b="1" sz="1300">
                <a:solidFill>
                  <a:srgbClr val="F8FAFC"/>
                </a:solidFill>
              </a:rPr>
              <a:t>• Interactive 'Show More' Toggle: </a:t>
            </a:r>
            <a:r>
              <a:rPr sz="1300">
                <a:solidFill>
                  <a:srgbClr val="94A3B8"/>
                </a:solidFill>
              </a:rPr>
              <a:t>Expands to show all remaining accounts upon click and toggles to 'Show Less' to collapse.</a:t>
            </a:r>
          </a:p>
          <a:p>
            <a:r>
              <a:rPr b="1" sz="1300">
                <a:solidFill>
                  <a:srgbClr val="F8FAFC"/>
                </a:solidFill>
              </a:rPr>
              <a:t>• Money Studio &amp; Presets: </a:t>
            </a:r>
            <a:r>
              <a:rPr sz="1300">
                <a:solidFill>
                  <a:srgbClr val="94A3B8"/>
                </a:solidFill>
              </a:rPr>
              <a:t>Dedicated deposit/withdrawal cards with quick presets (+₹500, +₹1,000, +₹5,000, +₹10,000).</a:t>
            </a:r>
          </a:p>
          <a:p>
            <a:r>
              <a:rPr b="1" sz="1300">
                <a:solidFill>
                  <a:srgbClr val="F8FAFC"/>
                </a:solidFill>
              </a:rPr>
              <a:t>• Confetti &amp; Feedback: </a:t>
            </a:r>
            <a:r>
              <a:rPr sz="1300">
                <a:solidFill>
                  <a:srgbClr val="94A3B8"/>
                </a:solidFill>
              </a:rPr>
              <a:t>Interactive particle celebrations on successful transactions and floating toast alert alerts.</a:t>
            </a:r>
          </a:p>
        </p:txBody>
      </p:sp>
      <p:pic>
        <p:nvPicPr>
          <p:cNvPr id="9" name="Picture 8" descr="web_dashboard_3d_1791045891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93776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MONGODB ATLAS &amp; LOCALHOST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Cloud Persistence &amp; Dual-Sync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Dual-Persistence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MongoDB Atlas Cloud: </a:t>
            </a:r>
            <a:r>
              <a:rPr sz="1300">
                <a:solidFill>
                  <a:srgbClr val="94A3B8"/>
                </a:solidFill>
              </a:rPr>
              <a:t>Primary cloud cluster storing accounts and transaction audit history with Mongoose schema validation.</a:t>
            </a:r>
          </a:p>
          <a:p>
            <a:r>
              <a:rPr b="1" sz="1300">
                <a:solidFill>
                  <a:srgbClr val="F8FAFC"/>
                </a:solidFill>
              </a:rPr>
              <a:t>• Zero-Downtime Fallback: </a:t>
            </a:r>
            <a:r>
              <a:rPr sz="1300">
                <a:solidFill>
                  <a:srgbClr val="94A3B8"/>
                </a:solidFill>
              </a:rPr>
              <a:t>If cloud is unreachable, backend auto-switches to local `data.json` without interrupting user transactions.</a:t>
            </a:r>
          </a:p>
          <a:p>
            <a:r>
              <a:rPr b="1" sz="1300">
                <a:solidFill>
                  <a:srgbClr val="F8FAFC"/>
                </a:solidFill>
              </a:rPr>
              <a:t>• Integer Currency Accuracy: </a:t>
            </a:r>
            <a:r>
              <a:rPr sz="1300">
                <a:solidFill>
                  <a:srgbClr val="94A3B8"/>
                </a:solidFill>
              </a:rPr>
              <a:t>Calculates in integer paise (`balancePaise`) to eliminate floating-point rounding errors.</a:t>
            </a:r>
          </a:p>
          <a:p>
            <a:r>
              <a:rPr b="1" sz="1300">
                <a:solidFill>
                  <a:srgbClr val="F8FAFC"/>
                </a:solidFill>
              </a:rPr>
              <a:t>• Instant Reconnect: </a:t>
            </a:r>
            <a:r>
              <a:rPr sz="1300">
                <a:solidFill>
                  <a:srgbClr val="94A3B8"/>
                </a:solidFill>
              </a:rPr>
              <a:t>One-click reconnect button on dashboard to re-synchronize local data with MongoDB Atlas.</a:t>
            </a:r>
          </a:p>
        </p:txBody>
      </p:sp>
      <p:pic>
        <p:nvPicPr>
          <p:cNvPr id="9" name="Picture 8" descr="cloud_database_3d_17910458663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93776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MODULE VII — THEORETICAL &amp; PRACTICAL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Algorithm Complexity &amp; Performance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1645920"/>
                <a:gridCol w="2681935"/>
              </a:tblGrid>
              <a:tr h="70539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Algorithm / Operation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Best Time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Worst Time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Aux Space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Practical Application in Project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 Search (Phone)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 (First element)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O(n) (Last element)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Duplicate phone validation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Binary Search (Acc No)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 (Mid match)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O(log n) (Subdivisions)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 account lookups &amp; deposits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Insertion Sort (Balance)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O(n) (Already sorted)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O(n^2) (Reversed)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Portfolio balance sorting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Matrix Operations (2x2)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O(N^3) / O(N^2)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O(N^3) / O(N^2)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Branch cash flow simulation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Stack Push / Pop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Expression validation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Queue Enqueue / Dequeue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Teller token dispatch line</a:t>
                      </a:r>
                    </a:p>
                  </a:txBody>
                  <a:tcPr>
                    <a:solidFill>
                      <a:srgbClr val="1A26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wipe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SUMMARY &amp; EVALUATION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Future Scope &amp;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F8FAFC"/>
                </a:solidFill>
              </a:rPr>
              <a:t>• AVL / B-Tree Indexing: </a:t>
            </a:r>
            <a:r>
              <a:rPr sz="1300">
                <a:solidFill>
                  <a:srgbClr val="94A3B8"/>
                </a:solidFill>
              </a:rPr>
              <a:t>Integrate self-balancing B+ Trees for large-scale disk-based account index lookups.</a:t>
            </a:r>
          </a:p>
          <a:p>
            <a:r>
              <a:rPr b="1" sz="1300">
                <a:solidFill>
                  <a:srgbClr val="F8FAFC"/>
                </a:solidFill>
              </a:rPr>
              <a:t>• Multi-Threaded Concurrency: </a:t>
            </a:r>
            <a:r>
              <a:rPr sz="1300">
                <a:solidFill>
                  <a:srgbClr val="94A3B8"/>
                </a:solidFill>
              </a:rPr>
              <a:t>Implement POSIX mutex locking for multi-teller transaction safety.</a:t>
            </a:r>
          </a:p>
          <a:p>
            <a:r>
              <a:rPr b="1" sz="1300">
                <a:solidFill>
                  <a:srgbClr val="F8FAFC"/>
                </a:solidFill>
              </a:rPr>
              <a:t>• AI Anomaly Detection: </a:t>
            </a:r>
            <a:r>
              <a:rPr sz="1300">
                <a:solidFill>
                  <a:srgbClr val="94A3B8"/>
                </a:solidFill>
              </a:rPr>
              <a:t>Deploy graph algorithms to detect fraudulent transaction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0182C"/>
          </a:solidFill>
          <a:ln w="19050">
            <a:solidFill>
              <a:srgbClr val="1A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Thank You &amp; Group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Presented by:</a:t>
            </a:r>
          </a:p>
          <a:p>
            <a:r>
              <a:rPr b="1" sz="1300">
                <a:solidFill>
                  <a:srgbClr val="F8FAFC"/>
                </a:solidFill>
              </a:rPr>
              <a:t>• Group Members: </a:t>
            </a:r>
            <a:r>
              <a:rPr sz="1300">
                <a:solidFill>
                  <a:srgbClr val="94A3B8"/>
                </a:solidFill>
              </a:rPr>
              <a:t>Manikanta, Lokesh, Anil, Shishira, Chathwik</a:t>
            </a:r>
          </a:p>
          <a:p>
            <a:r>
              <a:rPr b="1" sz="1300">
                <a:solidFill>
                  <a:srgbClr val="F8FAFC"/>
                </a:solidFill>
              </a:rPr>
              <a:t>• Source Code: </a:t>
            </a:r>
            <a:r>
              <a:rPr sz="1300">
                <a:solidFill>
                  <a:srgbClr val="94A3B8"/>
                </a:solidFill>
              </a:rPr>
              <a:t>github.com/manikantareddemoni-glitch/bank-management-system</a:t>
            </a:r>
          </a:p>
          <a:p>
            <a:r>
              <a:rPr b="1" sz="1300">
                <a:solidFill>
                  <a:srgbClr val="F8FAFC"/>
                </a:solidFill>
              </a:rPr>
              <a:t>• Live Deployment: </a:t>
            </a:r>
            <a:r>
              <a:rPr sz="1300">
                <a:solidFill>
                  <a:srgbClr val="94A3B8"/>
                </a:solidFill>
              </a:rPr>
              <a:t>Dual-Sync Cloud Web Engine</a:t>
            </a:r>
          </a:p>
          <a:p>
            <a:r>
              <a:rPr b="1" sz="1300">
                <a:solidFill>
                  <a:srgbClr val="F8FAFC"/>
                </a:solidFill>
              </a:rPr>
              <a:t>• Open Floor: </a:t>
            </a:r>
            <a:r>
              <a:rPr sz="1300">
                <a:solidFill>
                  <a:srgbClr val="94A3B8"/>
                </a:solidFill>
              </a:rPr>
              <a:t>We welcome your questions and algorithmic evaluation!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