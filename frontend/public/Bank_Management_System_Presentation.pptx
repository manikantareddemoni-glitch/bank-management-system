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914400"/>
            <a:ext cx="9448495" cy="5029200"/>
          </a:xfrm>
          <a:prstGeom prst="roundRect">
            <a:avLst/>
          </a:prstGeom>
          <a:solidFill>
            <a:srgbClr val="1C2541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280160"/>
            <a:ext cx="8534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8FAFC"/>
                </a:solidFill>
                <a:latin typeface="Arial"/>
              </a:defRPr>
            </a:pPr>
            <a:r>
              <a:t>CS207 BANK MANAGEMENT SYSTEM</a:t>
            </a:r>
          </a:p>
          <a:p>
            <a:pPr algn="ctr">
              <a:defRPr sz="1700">
                <a:solidFill>
                  <a:srgbClr val="06B6D4"/>
                </a:solidFill>
                <a:latin typeface="Arial"/>
              </a:defRPr>
            </a:pPr>
            <a:r>
              <a:t>Modular C++ Core Architecture &amp; Full-Stack Banking Application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926080"/>
            <a:ext cx="39620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3200400"/>
            <a:ext cx="85340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Group Project Presentation • 5 Student Module Division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• Student 1: Account Management &amp; Nested Data Structures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• Student 2: Financial Transactions &amp; Linear / Binary Search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• Student 3: Insertion Sort &amp; 2D Array Matrix Operations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• Student 4: String Algorithms &amp; Stack ADT Parenthesis Checking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• Student 5: Queue ADT (Linear &amp; Circular), STL Containers &amp; Main Controller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INTRODUCTION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Project Overview &amp; Engineering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43F5E"/>
                </a:solidFill>
                <a:latin typeface="Arial"/>
              </a:defRPr>
            </a:pPr>
            <a:r>
              <a:t>1. Problem Statement &amp;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F8FAFC"/>
                </a:solidFill>
              </a:rPr>
              <a:t>• Theoretical Isolation: </a:t>
            </a:r>
            <a:r>
              <a:rPr sz="1300">
                <a:solidFill>
                  <a:srgbClr val="94A3B8"/>
                </a:solidFill>
              </a:rPr>
              <a:t>Academic data structures are often taught with isolated toy examples rather than unified real-world software.</a:t>
            </a:r>
          </a:p>
          <a:p>
            <a:r>
              <a:rPr b="1" sz="1300">
                <a:solidFill>
                  <a:srgbClr val="F8FAFC"/>
                </a:solidFill>
              </a:rPr>
              <a:t>• Concurrency &amp; Consistency: </a:t>
            </a:r>
            <a:r>
              <a:rPr sz="1300">
                <a:solidFill>
                  <a:srgbClr val="94A3B8"/>
                </a:solidFill>
              </a:rPr>
              <a:t>Financial systems require absolute precision (zero floating-point errors) and atomic balance updates.</a:t>
            </a:r>
          </a:p>
          <a:p>
            <a:r>
              <a:rPr b="1" sz="1300">
                <a:solidFill>
                  <a:srgbClr val="F8FAFC"/>
                </a:solidFill>
              </a:rPr>
              <a:t>• Multi-Member Coordination: </a:t>
            </a:r>
            <a:r>
              <a:rPr sz="1300">
                <a:solidFill>
                  <a:srgbClr val="94A3B8"/>
                </a:solidFill>
              </a:rPr>
              <a:t>Dividing a cohesive codebase among 5 developers requires robust modular encapsulation without variable collisions.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63040"/>
            <a:ext cx="512064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Arial"/>
              </a:defRPr>
            </a:pPr>
            <a:r>
              <a:t>2. The Bank Management System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F8FAFC"/>
                </a:solidFill>
              </a:rPr>
              <a:t>• Modular C++ Engine: </a:t>
            </a:r>
            <a:r>
              <a:rPr sz="1300">
                <a:solidFill>
                  <a:srgbClr val="94A3B8"/>
                </a:solidFill>
              </a:rPr>
              <a:t>Structured across 5 distinct student units linked via a clean shared interface (`bank.h`).</a:t>
            </a:r>
          </a:p>
          <a:p>
            <a:r>
              <a:rPr b="1" sz="1300">
                <a:solidFill>
                  <a:srgbClr val="F8FAFC"/>
                </a:solidFill>
              </a:rPr>
              <a:t>• 100% Syllabus Coverage: </a:t>
            </a:r>
            <a:r>
              <a:rPr sz="1300">
                <a:solidFill>
                  <a:srgbClr val="94A3B8"/>
                </a:solidFill>
              </a:rPr>
              <a:t>Integrates Arrays, Nested Structs, Searching, Sorting, 2D Matrices, Strings, Stacks, Queues, and STL.</a:t>
            </a:r>
          </a:p>
          <a:p>
            <a:r>
              <a:rPr b="1" sz="1300">
                <a:solidFill>
                  <a:srgbClr val="F8FAFC"/>
                </a:solidFill>
              </a:rPr>
              <a:t>• Dual-Sync Web Platform: </a:t>
            </a:r>
            <a:r>
              <a:rPr sz="1300">
                <a:solidFill>
                  <a:srgbClr val="94A3B8"/>
                </a:solidFill>
              </a:rPr>
              <a:t>Augmented with a modern React + Vite dashboard and Node.js REST API with cloud MongoDB dual persistence.</a:t>
            </a:r>
          </a:p>
          <a:p>
            <a:r>
              <a:rPr b="1" sz="1300">
                <a:solidFill>
                  <a:srgbClr val="F8FAFC"/>
                </a:solidFill>
              </a:rPr>
              <a:t>• Strict Business Rules: </a:t>
            </a:r>
            <a:r>
              <a:rPr sz="1300">
                <a:solidFill>
                  <a:srgbClr val="94A3B8"/>
                </a:solidFill>
              </a:rPr>
              <a:t>₹500 minimum balance enforcement for Savings accounts and automated transaction audit journaling.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SYSTEM DESIGN &amp; 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Full-Stack System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1460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Arial"/>
              </a:defRPr>
            </a:pPr>
            <a:r>
              <a:t>Core C++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2240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>
                <a:solidFill>
                  <a:srgbClr val="F8FAFC"/>
                </a:solidFill>
              </a:defRPr>
            </a:pPr>
            <a:r>
              <a:t>• Modular Multi-file Architecture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student1.cpp to student5.cpp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Fast in-memory algorithmic execution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Zero memory leak pointer safety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O(1) &amp; O(log n) real-time lookups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463040"/>
            <a:ext cx="251460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60020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Arial"/>
              </a:defRPr>
            </a:pPr>
            <a:r>
              <a:t>REST API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103120"/>
            <a:ext cx="2240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>
                <a:solidFill>
                  <a:srgbClr val="F8FAFC"/>
                </a:solidFill>
              </a:defRPr>
            </a:pPr>
            <a:r>
              <a:t>• Node.js &amp; Express Server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Atomic Deposit &amp; Withdraw endpoints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Account CRUD operations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Transaction ledger streaming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Dual-Sync sync controller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463040"/>
            <a:ext cx="251460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0020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Arial"/>
              </a:defRPr>
            </a:pPr>
            <a:r>
              <a:t>Web Frontend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103120"/>
            <a:ext cx="2240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>
                <a:solidFill>
                  <a:srgbClr val="F8FAFC"/>
                </a:solidFill>
              </a:defRPr>
            </a:pPr>
            <a:r>
              <a:t>• React 19 + Vite 8 SPA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Glassmorphic Dark Dashboard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Initial 6 Accounts Pagination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Live interactive transaction studio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Toast alerts &amp; Confetti effects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280" y="1463040"/>
            <a:ext cx="251460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160020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Arial"/>
              </a:defRPr>
            </a:pPr>
            <a:r>
              <a:t>Persistence Tier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103120"/>
            <a:ext cx="2240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>
                <a:solidFill>
                  <a:srgbClr val="F8FAFC"/>
                </a:solidFill>
              </a:defRPr>
            </a:pPr>
            <a:r>
              <a:t>• MongoDB Atlas Cloud Cluster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Mongoose Schemas &amp; Models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Localhost data.json fallback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Immutable Transaction Ledger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High fault-tolerant auto reconnect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TEAM ORGANIZATION &amp; SYLLABUS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Project Modular Division Across 5 Students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560320"/>
                <a:gridCol w="2286000"/>
                <a:gridCol w="4419295"/>
              </a:tblGrid>
              <a:tr h="79248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8FAFC"/>
                          </a:solidFill>
                        </a:defRPr>
                      </a:pPr>
                      <a:r>
                        <a:t>Member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8FAFC"/>
                          </a:solidFill>
                        </a:defRPr>
                      </a:pPr>
                      <a:r>
                        <a:t>Module Focus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8FAFC"/>
                          </a:solidFill>
                        </a:defRPr>
                      </a:pPr>
                      <a:r>
                        <a:t>DSA Concepts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8FAFC"/>
                          </a:solidFill>
                        </a:defRPr>
                      </a:pPr>
                      <a:r>
                        <a:t>Key Deliverables &amp; Functions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Student 1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Account Management &amp; Records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Modules I, II, VI</a:t>
                      </a:r>
                      <a:br/>
                      <a:r>
                        <a:t>Composite Structs &amp; Arrays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seedInitialData(), displayAllCustomers(), addNewCustomer(), Date/Address Structs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Student 2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Transactions &amp; Search Engines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Modules II, III, VII</a:t>
                      </a:r>
                      <a:br/>
                      <a:r>
                        <a:t>Linear &amp; Binary Search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linearSearchByPhone() O(n), binarySearchByAccountNo() O(log n), depositFunds(), withdrawFunds()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Student 3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Sorting &amp; 2D Matrix Algebra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Modules III, IV, VII</a:t>
                      </a:r>
                      <a:br/>
                      <a:r>
                        <a:t>Insertion Sort &amp; 2D Arrays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insertionSortByBalance() O(n^2), sortCustomers(), Matrix Add/Sub/Mult/Transpose demo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Student 4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String Logic &amp; Stack ADT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Modules V, VIII</a:t>
                      </a:r>
                      <a:br/>
                      <a:r>
                        <a:t>Strings &amp; Stack (LIFO)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reverseString(), countCharacterFrequency(), searchPattern(), Stack ADT &amp; Parenthesis Match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Student 5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Queue ADT, STL &amp; Main Driver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Modules I, II, IX, X</a:t>
                      </a:r>
                      <a:br/>
                      <a:r>
                        <a:t>Queues &amp; STL Library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LinearQueue, CircularQueue with Modulo %, vector/pair/deque/set/map demos, main() menu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MODULES I, II, VI — STUDENT1.CPP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Student 1: Account Management &amp; Data Structures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Arial"/>
              </a:defRPr>
            </a:pPr>
            <a:r>
              <a:t>Core Data Structures &amp; Nesting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F8FAFC"/>
                </a:solidFill>
              </a:rPr>
              <a:t>• Composite Entity Design: </a:t>
            </a:r>
            <a:r>
              <a:rPr sz="1300">
                <a:solidFill>
                  <a:srgbClr val="94A3B8"/>
                </a:solidFill>
              </a:rPr>
              <a:t>Defined `Customer` struct combining primitive types with nested `Date` (day, month, year) and `Address` (city, state, pincode) structures.</a:t>
            </a:r>
          </a:p>
          <a:p>
            <a:r>
              <a:rPr b="1" sz="1300">
                <a:solidFill>
                  <a:srgbClr val="F8FAFC"/>
                </a:solidFill>
              </a:rPr>
              <a:t>• Audit Log Entity: </a:t>
            </a:r>
            <a:r>
              <a:rPr sz="1300">
                <a:solidFill>
                  <a:srgbClr val="94A3B8"/>
                </a:solidFill>
              </a:rPr>
              <a:t>Designed `Transaction` struct recording `txnId`, `accountNo`, `type` (OPENING, DEPOSIT, WITHDRAW), `amount`, and `balanceAfter`.</a:t>
            </a:r>
          </a:p>
          <a:p>
            <a:r>
              <a:rPr b="1" sz="1300">
                <a:solidFill>
                  <a:srgbClr val="F8FAFC"/>
                </a:solidFill>
              </a:rPr>
              <a:t>• Global Repository: </a:t>
            </a:r>
            <a:r>
              <a:rPr sz="1300">
                <a:solidFill>
                  <a:srgbClr val="94A3B8"/>
                </a:solidFill>
              </a:rPr>
              <a:t>Initialized and manages master in-memory collections `customerList` and `transactionList` vectors with auto-increment IDs.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63040"/>
            <a:ext cx="512064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Arial"/>
              </a:defRPr>
            </a:pPr>
            <a:r>
              <a:t>Key Functions &amp; Responsibilities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F8FAFC"/>
                </a:solidFill>
              </a:rPr>
              <a:t>• seedInitialData(): </a:t>
            </a:r>
            <a:r>
              <a:rPr sz="1300">
                <a:solidFill>
                  <a:srgbClr val="94A3B8"/>
                </a:solidFill>
              </a:rPr>
              <a:t>Pre-populates system with 6 benchmark customer records and initial opening audit logs for instant demo readiness.</a:t>
            </a:r>
          </a:p>
          <a:p>
            <a:r>
              <a:rPr b="1" sz="1300">
                <a:solidFill>
                  <a:srgbClr val="F8FAFC"/>
                </a:solidFill>
              </a:rPr>
              <a:t>• displayAllCustomers(): </a:t>
            </a:r>
            <a:r>
              <a:rPr sz="1300">
                <a:solidFill>
                  <a:srgbClr val="94A3B8"/>
                </a:solidFill>
              </a:rPr>
              <a:t>Generates formatted tabular console reports using `&lt;iomanip&gt;` (`setw`, `left`, `right`, `fixed`, `setprecision`).</a:t>
            </a:r>
          </a:p>
          <a:p>
            <a:r>
              <a:rPr b="1" sz="1300">
                <a:solidFill>
                  <a:srgbClr val="F8FAFC"/>
                </a:solidFill>
              </a:rPr>
              <a:t>• addNewCustomer(): </a:t>
            </a:r>
            <a:r>
              <a:rPr sz="1300">
                <a:solidFill>
                  <a:srgbClr val="94A3B8"/>
                </a:solidFill>
              </a:rPr>
              <a:t>Collects new account details, enforces ₹500 minimum opening deposit for SAVINGS accounts, verifies phone uniqueness, and logs opening transaction.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MODULES II, III, VII — STUDENT2.CPP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Student 2: Financial Transactions &amp; Search Algorithms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Arial"/>
              </a:defRPr>
            </a:pPr>
            <a:r>
              <a:t>Searching Algorithms &amp;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F8FAFC"/>
                </a:solidFill>
              </a:rPr>
              <a:t>• Linear Search (Phone Numbers): </a:t>
            </a:r>
            <a:r>
              <a:rPr sz="1300">
                <a:solidFill>
                  <a:srgbClr val="94A3B8"/>
                </a:solidFill>
              </a:rPr>
              <a:t>Sequential scan of `customerList` to locate accounts by 10-digit phone number. Time Complexity: O(n), Space Complexity: O(1).</a:t>
            </a:r>
          </a:p>
          <a:p>
            <a:r>
              <a:rPr b="1" sz="1300">
                <a:solidFill>
                  <a:srgbClr val="F8FAFC"/>
                </a:solidFill>
              </a:rPr>
              <a:t>• Binary Search (Account Numbers): </a:t>
            </a:r>
            <a:r>
              <a:rPr sz="1300">
                <a:solidFill>
                  <a:srgbClr val="94A3B8"/>
                </a:solidFill>
              </a:rPr>
              <a:t>Divide-and-conquer search algorithm on sorted `accountNo`. Calculates `mid = low + (high - low) / 2` to eliminate half the search space per iteration. Time Complexity: O(log n), Space Complexity: O(1).</a:t>
            </a:r>
          </a:p>
          <a:p>
            <a:r>
              <a:rPr b="1" sz="1300">
                <a:solidFill>
                  <a:srgbClr val="F8FAFC"/>
                </a:solidFill>
              </a:rPr>
              <a:t>• Algorithmic Efficiency: </a:t>
            </a:r>
            <a:r>
              <a:rPr sz="1300">
                <a:solidFill>
                  <a:srgbClr val="94A3B8"/>
                </a:solidFill>
              </a:rPr>
              <a:t>Provides rapid retrieval even as account records grow to thousands of customers.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63040"/>
            <a:ext cx="512064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Arial"/>
              </a:defRPr>
            </a:pPr>
            <a:r>
              <a:t>Transaction Management &amp; Audit Trail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F8FAFC"/>
                </a:solidFill>
              </a:rPr>
              <a:t>• depositFunds(): </a:t>
            </a:r>
            <a:r>
              <a:rPr sz="1300">
                <a:solidFill>
                  <a:srgbClr val="94A3B8"/>
                </a:solidFill>
              </a:rPr>
              <a:t>Uses Binary Search to find account, validates positive amount, updates balance, and appends audit log to `transactionList`.</a:t>
            </a:r>
          </a:p>
          <a:p>
            <a:r>
              <a:rPr b="1" sz="1300">
                <a:solidFill>
                  <a:srgbClr val="F8FAFC"/>
                </a:solidFill>
              </a:rPr>
              <a:t>• withdrawFunds(): </a:t>
            </a:r>
            <a:r>
              <a:rPr sz="1300">
                <a:solidFill>
                  <a:srgbClr val="94A3B8"/>
                </a:solidFill>
              </a:rPr>
              <a:t>Enforces strict business rules: rejects overdrafts and prevents SAVINGS balance from falling below ₹500.00.</a:t>
            </a:r>
          </a:p>
          <a:p>
            <a:r>
              <a:rPr b="1" sz="1300">
                <a:solidFill>
                  <a:srgbClr val="F8FAFC"/>
                </a:solidFill>
              </a:rPr>
              <a:t>• viewTransactionHistory(): </a:t>
            </a:r>
            <a:r>
              <a:rPr sz="1300">
                <a:solidFill>
                  <a:srgbClr val="94A3B8"/>
                </a:solidFill>
              </a:rPr>
              <a:t>Displays chronological ledger of all opening deposits, deposits, and withdrawals for any requested account number.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MODULES III, IV, VII — STUDENT3.CPP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Student 3: Sorting Algorithms &amp; 2D Matrix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Arial"/>
              </a:defRPr>
            </a:pPr>
            <a:r>
              <a:t>Insertion Sort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F8FAFC"/>
                </a:solidFill>
              </a:rPr>
              <a:t>• Algorithm Mechanics: </a:t>
            </a:r>
            <a:r>
              <a:rPr sz="1300">
                <a:solidFill>
                  <a:srgbClr val="94A3B8"/>
                </a:solidFill>
              </a:rPr>
              <a:t>Maintains a sorted subarray on the left and iteratively inserts each incoming element into its correct relative position by shifting larger elements right.</a:t>
            </a:r>
          </a:p>
          <a:p>
            <a:r>
              <a:rPr b="1" sz="1300">
                <a:solidFill>
                  <a:srgbClr val="F8FAFC"/>
                </a:solidFill>
              </a:rPr>
              <a:t>• Bidirectional Sorting: </a:t>
            </a:r>
            <a:r>
              <a:rPr sz="1300">
                <a:solidFill>
                  <a:srgbClr val="94A3B8"/>
                </a:solidFill>
              </a:rPr>
              <a:t>Supports Ascending (lowest to highest balance) and Descending (highest to lowest balance) orders.</a:t>
            </a:r>
          </a:p>
          <a:p>
            <a:r>
              <a:rPr b="1" sz="1300">
                <a:solidFill>
                  <a:srgbClr val="F8FAFC"/>
                </a:solidFill>
              </a:rPr>
              <a:t>• Complexity Analysis: </a:t>
            </a:r>
            <a:r>
              <a:rPr sz="1300">
                <a:solidFill>
                  <a:srgbClr val="94A3B8"/>
                </a:solidFill>
              </a:rPr>
              <a:t>Best Case: O(n) when already sorted. Worst/Average Case: O(n^2). Space Complexity: O(1) in-place auxiliary space.</a:t>
            </a:r>
          </a:p>
          <a:p>
            <a:r>
              <a:rPr b="1" sz="1300">
                <a:solidFill>
                  <a:srgbClr val="F8FAFC"/>
                </a:solidFill>
              </a:rPr>
              <a:t>• Banking Utility: </a:t>
            </a:r>
            <a:r>
              <a:rPr sz="1300">
                <a:solidFill>
                  <a:srgbClr val="94A3B8"/>
                </a:solidFill>
              </a:rPr>
              <a:t>Empowers managers to identify high-net-worth customers and low-balance accounts.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63040"/>
            <a:ext cx="512064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43F5E"/>
                </a:solidFill>
                <a:latin typeface="Arial"/>
              </a:defRPr>
            </a:pPr>
            <a:r>
              <a:t>2D Numeric Array Matrix Operations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F8FAFC"/>
                </a:solidFill>
              </a:rPr>
              <a:t>• Branch Cash Flow Modeling: </a:t>
            </a:r>
            <a:r>
              <a:rPr sz="1300">
                <a:solidFill>
                  <a:srgbClr val="94A3B8"/>
                </a:solidFill>
              </a:rPr>
              <a:t>Utilizes 2D integer arrays (`int mat[2][2]`) to represent regional branch liquidity and cash flow metrics.</a:t>
            </a:r>
          </a:p>
          <a:p>
            <a:r>
              <a:rPr b="1" sz="1300">
                <a:solidFill>
                  <a:srgbClr val="F8FAFC"/>
                </a:solidFill>
              </a:rPr>
              <a:t>• 1. Matrix Addition: </a:t>
            </a:r>
            <a:r>
              <a:rPr sz="1300">
                <a:solidFill>
                  <a:srgbClr val="94A3B8"/>
                </a:solidFill>
              </a:rPr>
              <a:t>`Sum[i][j] = A[i][j] + B[i][j]` to calculate total regional vault assets.</a:t>
            </a:r>
          </a:p>
          <a:p>
            <a:r>
              <a:rPr b="1" sz="1300">
                <a:solidFill>
                  <a:srgbClr val="F8FAFC"/>
                </a:solidFill>
              </a:rPr>
              <a:t>• 2. Matrix Subtraction: </a:t>
            </a:r>
            <a:r>
              <a:rPr sz="1300">
                <a:solidFill>
                  <a:srgbClr val="94A3B8"/>
                </a:solidFill>
              </a:rPr>
              <a:t>`Diff[i][j] = A[i][j] - B[i][j]` for net disparity analysis.</a:t>
            </a:r>
          </a:p>
          <a:p>
            <a:r>
              <a:rPr b="1" sz="1300">
                <a:solidFill>
                  <a:srgbClr val="F8FAFC"/>
                </a:solidFill>
              </a:rPr>
              <a:t>• 3. Matrix Multiplication: </a:t>
            </a:r>
            <a:r>
              <a:rPr sz="1300">
                <a:solidFill>
                  <a:srgbClr val="94A3B8"/>
                </a:solidFill>
              </a:rPr>
              <a:t>`Mult[i][j] = Sum(A[i][k] * B[k][j])` for linear projection modeling.</a:t>
            </a:r>
          </a:p>
          <a:p>
            <a:r>
              <a:rPr b="1" sz="1300">
                <a:solidFill>
                  <a:srgbClr val="F8FAFC"/>
                </a:solidFill>
              </a:rPr>
              <a:t>• 4. Matrix Transposition: </a:t>
            </a:r>
            <a:r>
              <a:rPr sz="1300">
                <a:solidFill>
                  <a:srgbClr val="94A3B8"/>
                </a:solidFill>
              </a:rPr>
              <a:t>`Trans[j][i] = A[i][j]` swapping rows and columns for multidimensional ledger reporting.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MODULES V, VIII — STUDENT4.CPP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Student 4: String Algorithms &amp; Stack ADT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Arial"/>
              </a:defRPr>
            </a:pPr>
            <a:r>
              <a:t>String Algorithms &amp;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F8FAFC"/>
                </a:solidFill>
              </a:rPr>
              <a:t>• In-Place String Reversal: </a:t>
            </a:r>
            <a:r>
              <a:rPr sz="1300">
                <a:solidFill>
                  <a:srgbClr val="94A3B8"/>
                </a:solidFill>
              </a:rPr>
              <a:t>Swaps `str[i]` with `str[n-1-i]` moving towards the center in O(n/2) = O(n) time and O(1) space.</a:t>
            </a:r>
          </a:p>
          <a:p>
            <a:r>
              <a:rPr b="1" sz="1300">
                <a:solidFill>
                  <a:srgbClr val="F8FAFC"/>
                </a:solidFill>
              </a:rPr>
              <a:t>• Character Frequency Histogram: </a:t>
            </a:r>
            <a:r>
              <a:rPr sz="1300">
                <a:solidFill>
                  <a:srgbClr val="94A3B8"/>
                </a:solidFill>
              </a:rPr>
              <a:t>Uses a 256-bucket ASCII direct-address table to tally non-whitespace character occurrences in customer names and records.</a:t>
            </a:r>
          </a:p>
          <a:p>
            <a:r>
              <a:rPr b="1" sz="1300">
                <a:solidFill>
                  <a:srgbClr val="F8FAFC"/>
                </a:solidFill>
              </a:rPr>
              <a:t>• Naive Substring Pattern Search: </a:t>
            </a:r>
            <a:r>
              <a:rPr sz="1300">
                <a:solidFill>
                  <a:srgbClr val="94A3B8"/>
                </a:solidFill>
              </a:rPr>
              <a:t>Slides a pattern window across text with `O((n-m+1)*m)` complexity to verify branch codes and customer identifiers.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63040"/>
            <a:ext cx="512064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Arial"/>
              </a:defRPr>
            </a:pPr>
            <a:r>
              <a:t>Stack Abstract Data Type (LIFO)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F8FAFC"/>
                </a:solidFill>
              </a:rPr>
              <a:t>• Array-Based Stack ADT: </a:t>
            </a:r>
            <a:r>
              <a:rPr sz="1300">
                <a:solidFill>
                  <a:srgbClr val="94A3B8"/>
                </a:solidFill>
              </a:rPr>
              <a:t>Implements static `SimpleStack` structure with `top` index pointer managing elements in Last-In, First-Out (LIFO) order.</a:t>
            </a:r>
          </a:p>
          <a:p>
            <a:r>
              <a:rPr b="1" sz="1300">
                <a:solidFill>
                  <a:srgbClr val="F8FAFC"/>
                </a:solidFill>
              </a:rPr>
              <a:t>• Fundamental Primitives: </a:t>
            </a:r>
            <a:r>
              <a:rPr sz="1300">
                <a:solidFill>
                  <a:srgbClr val="94A3B8"/>
                </a:solidFill>
              </a:rPr>
              <a:t>`initStack()`, `isStackEmpty()`, `isStackFull()`, `push()` with Overflow guard, and `pop()` with Underflow guard.</a:t>
            </a:r>
          </a:p>
          <a:p>
            <a:r>
              <a:rPr b="1" sz="1300">
                <a:solidFill>
                  <a:srgbClr val="F8FAFC"/>
                </a:solidFill>
              </a:rPr>
              <a:t>• Parenthesis Balance Verification: </a:t>
            </a:r>
            <a:r>
              <a:rPr sz="1300">
                <a:solidFill>
                  <a:srgbClr val="94A3B8"/>
                </a:solidFill>
              </a:rPr>
              <a:t>Demonstrates real-world Stack application by parsing financial calculation expressions (e.g. `(A+B)*(C-D)`) to guarantee mathematical syntax integrity.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MODULES I, II, IX, X — STUDENT5.CPP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Student 5: Queue ADT, STL &amp; Driver Controller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Arial"/>
              </a:defRPr>
            </a:pPr>
            <a:r>
              <a:t>Queue ADT (Linear &amp; Circular)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F8FAFC"/>
                </a:solidFill>
              </a:rPr>
              <a:t>• Linear Queue (FIFO): </a:t>
            </a:r>
            <a:r>
              <a:rPr sz="1300">
                <a:solidFill>
                  <a:srgbClr val="94A3B8"/>
                </a:solidFill>
              </a:rPr>
              <a:t>Implements `LinearQueue` with `front` and `rear` pointers for bank teller token dispatch. Elements are serviced First-In, First-Out.</a:t>
            </a:r>
          </a:p>
          <a:p>
            <a:r>
              <a:rPr b="1" sz="1300">
                <a:solidFill>
                  <a:srgbClr val="F8FAFC"/>
                </a:solidFill>
              </a:rPr>
              <a:t>• Circular Queue (Modulo Wraparound): </a:t>
            </a:r>
            <a:r>
              <a:rPr sz="1300">
                <a:solidFill>
                  <a:srgbClr val="94A3B8"/>
                </a:solidFill>
              </a:rPr>
              <a:t>Solves the 'false overflow' problem of linear queues by recycling vacated array slots using modulo arithmetic: `rear = (rear + 1) % MAX`.</a:t>
            </a:r>
          </a:p>
          <a:p>
            <a:r>
              <a:rPr b="1" sz="1300">
                <a:solidFill>
                  <a:srgbClr val="F8FAFC"/>
                </a:solidFill>
              </a:rPr>
              <a:t>• Operations: </a:t>
            </a:r>
            <a:r>
              <a:rPr sz="1300">
                <a:solidFill>
                  <a:srgbClr val="94A3B8"/>
                </a:solidFill>
              </a:rPr>
              <a:t>`circularEnqueue()` and `circularDequeue()` execute with optimal O(1) time complexity.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63040"/>
            <a:ext cx="512064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Arial"/>
              </a:defRPr>
            </a:pPr>
            <a:r>
              <a:t>STL Containers &amp; Main Driver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F8FAFC"/>
                </a:solidFill>
              </a:rPr>
              <a:t>• Standard Template Library (Module X): </a:t>
            </a:r>
            <a:r>
              <a:rPr sz="1300">
                <a:solidFill>
                  <a:srgbClr val="94A3B8"/>
                </a:solidFill>
              </a:rPr>
              <a:t>Demonstrates `std::vector` + `std::pair` (account &amp; balance), `std::deque` (VIP priority lines), `std::set` (unique phone numbers), and `std::map` (O(log n) Red-Black Tree key lookups).</a:t>
            </a:r>
          </a:p>
          <a:p>
            <a:r>
              <a:rPr b="1" sz="1300">
                <a:solidFill>
                  <a:srgbClr val="F8FAFC"/>
                </a:solidFill>
              </a:rPr>
              <a:t>• Menu Interface (printMenu): </a:t>
            </a:r>
            <a:r>
              <a:rPr sz="1300">
                <a:solidFill>
                  <a:srgbClr val="94A3B8"/>
                </a:solidFill>
              </a:rPr>
              <a:t>14-option interactive console dashboard clearly categorized by student responsibilities.</a:t>
            </a:r>
          </a:p>
          <a:p>
            <a:r>
              <a:rPr b="1" sz="1300">
                <a:solidFill>
                  <a:srgbClr val="F8FAFC"/>
                </a:solidFill>
              </a:rPr>
              <a:t>• Main Application Driver (main()): </a:t>
            </a:r>
            <a:r>
              <a:rPr sz="1300">
                <a:solidFill>
                  <a:srgbClr val="94A3B8"/>
                </a:solidFill>
              </a:rPr>
              <a:t>Central event loop handling input sanitization, error checking, and routing requests to all 5 student modules.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FULL-STACK IMPLEMENTATION (REACT 19 + VITE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Modern Web Dashboard &amp; User Experience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20040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Arial"/>
              </a:defRPr>
            </a:pPr>
            <a:r>
              <a:t>Accounts Portfolio &amp; Visibility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>
                <a:solidFill>
                  <a:srgbClr val="F8FAFC"/>
                </a:solidFill>
              </a:defRPr>
            </a:pPr>
            <a:r>
              <a:t>• Initial 6-Account Display: Limits clutter by showing only first 6 accounts on load.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Interactive 'Show More' Toggle: Expands to reveal all remaining accounts upon clicking.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'Show Less' Collapse: Returns to compact view on demand.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Live search filtering across Name, Phone, Account Number, and 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1463040"/>
            <a:ext cx="320040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002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Arial"/>
              </a:defRPr>
            </a:pPr>
            <a:r>
              <a:t>Money Studio &amp; Transaction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1031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>
                <a:solidFill>
                  <a:srgbClr val="F8FAFC"/>
                </a:solidFill>
              </a:defRPr>
            </a:pPr>
            <a:r>
              <a:t>• Deposit Card: Quick preset buttons (+₹500, +₹1,000, +₹5,000, +₹10,000).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Withdrawal Card: Automatic minimum ₹500 balance enforcement.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Confetti Celebration Animation upon successful account creation or deposit.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Floating toast notification system for instant feedback.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463040"/>
            <a:ext cx="320040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59" y="16002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Arial"/>
              </a:defRPr>
            </a:pPr>
            <a:r>
              <a:t>Audit History Ledger &amp;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39" y="21031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>
                <a:solidFill>
                  <a:srgbClr val="F8FAFC"/>
                </a:solidFill>
              </a:defRPr>
            </a:pPr>
            <a:r>
              <a:t>• Real-time Vault Balance card aggregating total integer paise.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Account distribution ratio (Savings vs Current accounts).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Full chronological ledger search by account number.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One-click instant MongoDB Atlas dual-sync reconnect button.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BACKEND ARCHITECTURE (NODE.JS &amp; MONGODB ATLAS)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Database Persistence &amp; Dual-Sync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Arial"/>
              </a:defRPr>
            </a:pPr>
            <a:r>
              <a:t>MongoDB Atlas Cloud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F8FAFC"/>
                </a:solidFill>
              </a:rPr>
              <a:t>• Cloud Collections: </a:t>
            </a:r>
            <a:r>
              <a:rPr sz="1300">
                <a:solidFill>
                  <a:srgbClr val="94A3B8"/>
                </a:solidFill>
              </a:rPr>
              <a:t>Hosted on MongoDB Atlas with dedicated `customers`, `transactions`, and `users` Mongoose schema collections.</a:t>
            </a:r>
          </a:p>
          <a:p>
            <a:r>
              <a:rPr b="1" sz="1300">
                <a:solidFill>
                  <a:srgbClr val="F8FAFC"/>
                </a:solidFill>
              </a:rPr>
              <a:t>• Integer Paise Precision: </a:t>
            </a:r>
            <a:r>
              <a:rPr sz="1300">
                <a:solidFill>
                  <a:srgbClr val="94A3B8"/>
                </a:solidFill>
              </a:rPr>
              <a:t>Stores currency as integer `balancePaise` (₹1.00 = 100 paise) eliminating binary IEEE-754 floating point rounding inaccuracies.</a:t>
            </a:r>
          </a:p>
          <a:p>
            <a:r>
              <a:rPr b="1" sz="1300">
                <a:solidFill>
                  <a:srgbClr val="F8FAFC"/>
                </a:solidFill>
              </a:rPr>
              <a:t>• Cascade Deletion: </a:t>
            </a:r>
            <a:r>
              <a:rPr sz="1300">
                <a:solidFill>
                  <a:srgbClr val="94A3B8"/>
                </a:solidFill>
              </a:rPr>
              <a:t>Closing an account automatically cascades and cleanses associated audit logs from the database.</a:t>
            </a:r>
          </a:p>
          <a:p>
            <a:r>
              <a:rPr b="1" sz="1300">
                <a:solidFill>
                  <a:srgbClr val="F8FAFC"/>
                </a:solidFill>
              </a:rPr>
              <a:t>• Health Check Endpoint: </a:t>
            </a:r>
            <a:r>
              <a:rPr sz="1300">
                <a:solidFill>
                  <a:srgbClr val="94A3B8"/>
                </a:solidFill>
              </a:rPr>
              <a:t>`/api/health` continuously monitors database connection heartbeat.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63040"/>
            <a:ext cx="512064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Arial"/>
              </a:defRPr>
            </a:pPr>
            <a:r>
              <a:t>Localhost High-Availability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F8FAFC"/>
                </a:solidFill>
              </a:rPr>
              <a:t>• Seamless Dual-Sync: </a:t>
            </a:r>
            <a:r>
              <a:rPr sz="1300">
                <a:solidFill>
                  <a:srgbClr val="94A3B8"/>
                </a:solidFill>
              </a:rPr>
              <a:t>If MongoDB Atlas connection fails or internet is unavailable, backend automatically switches to local `data.json` persistence.</a:t>
            </a:r>
          </a:p>
          <a:p>
            <a:r>
              <a:rPr b="1" sz="1300">
                <a:solidFill>
                  <a:srgbClr val="F8FAFC"/>
                </a:solidFill>
              </a:rPr>
              <a:t>• Zero Downtime: </a:t>
            </a:r>
            <a:r>
              <a:rPr sz="1300">
                <a:solidFill>
                  <a:srgbClr val="94A3B8"/>
                </a:solidFill>
              </a:rPr>
              <a:t>The web interface continues operating with full read/write capabilities without crashing or throwing unhandled errors.</a:t>
            </a:r>
          </a:p>
          <a:p>
            <a:r>
              <a:rPr b="1" sz="1300">
                <a:solidFill>
                  <a:srgbClr val="F8FAFC"/>
                </a:solidFill>
              </a:rPr>
              <a:t>• Instant Reconnect: </a:t>
            </a:r>
            <a:r>
              <a:rPr sz="1300">
                <a:solidFill>
                  <a:srgbClr val="94A3B8"/>
                </a:solidFill>
              </a:rPr>
              <a:t>The `/api/reconnect` endpoint re-attempts cloud cluster connection and synchronizes local modifications to the cloud cluster upon recovery.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MODULE VII — THEORETICAL &amp; PRACTICAL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Algorithm Complexity &amp; Performance Analysis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011680"/>
                <a:gridCol w="1645920"/>
                <a:gridCol w="2681935"/>
              </a:tblGrid>
              <a:tr h="679268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8FAFC"/>
                          </a:solidFill>
                        </a:defRPr>
                      </a:pPr>
                      <a:r>
                        <a:t>Algorithm / Operation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8FAFC"/>
                          </a:solidFill>
                        </a:defRPr>
                      </a:pPr>
                      <a:r>
                        <a:t>Best Time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8FAFC"/>
                          </a:solidFill>
                        </a:defRPr>
                      </a:pPr>
                      <a:r>
                        <a:t>Worst Time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8FAFC"/>
                          </a:solidFill>
                        </a:defRPr>
                      </a:pPr>
                      <a:r>
                        <a:t>Aux Space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8FAFC"/>
                          </a:solidFill>
                        </a:defRPr>
                      </a:pPr>
                      <a:r>
                        <a:t>Practical Application in Project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Linear Search (Phone)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O(1) (First element)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O(n) (Last element)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O(1)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Checking duplicate phone numbers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Binary Search (Acc No)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O(1) (Mid match)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O(log n) (Subdivisions)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O(1)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Fast account lookups &amp; deposits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Insertion Sort (Balance)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O(n) (Already sorted)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O(n^2) (Reversed)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O(1)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Sorting customer portfolio list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Matrix Operations (2x2)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O(N^3) / O(N^2)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O(N^3) / O(N^2)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O(N^2)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Branch cash flow &amp; liquidity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Stack Push / Pop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O(1)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O(1)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Expression validation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Queue Enqueue / Dequeue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O(1)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O(1)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Teller token dispatch line</a:t>
                      </a:r>
                    </a:p>
                  </a:txBody>
                  <a:tcPr>
                    <a:solidFill>
                      <a:srgbClr val="26325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SUMMARY &amp; PROJECT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Key Achievements &amp; Technical Learnings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20040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Arial"/>
              </a:defRPr>
            </a:pPr>
            <a:r>
              <a:t>1. Comprehensive Syllabus Integration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>
                <a:solidFill>
                  <a:srgbClr val="F8FAFC"/>
                </a:solidFill>
              </a:defRPr>
            </a:pPr>
            <a:r>
              <a:t>• Successfully mapped all 10 CS207 Data Structures modules to practical bank features.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Balanced procedural memory logic with modern Object-Oriented paradigms.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Zero memory corruption or uninitialized pointer vulnerabilities.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1463040"/>
            <a:ext cx="320040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002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Arial"/>
              </a:defRPr>
            </a:pPr>
            <a:r>
              <a:t>2. Collaborative Multi-Developer 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1031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>
                <a:solidFill>
                  <a:srgbClr val="F8FAFC"/>
                </a:solidFill>
              </a:defRPr>
            </a:pPr>
            <a:r>
              <a:t>• Divided across 5 independent student compilation units (`student1.cpp` – `student5.cpp`).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Linked via single `bank.h` header with clean `extern` scoping.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Allowed 5 developers to work concurrently with zero merge conflicts.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463040"/>
            <a:ext cx="320040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59" y="16002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Arial"/>
              </a:defRPr>
            </a:pPr>
            <a:r>
              <a:t>3. Industrial Standard Full-Stack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39" y="21031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>
                <a:solidFill>
                  <a:srgbClr val="F8FAFC"/>
                </a:solidFill>
              </a:defRPr>
            </a:pPr>
            <a:r>
              <a:t>• Bridged low-level C++ algorithms with high-level React &amp; Node.js cloud APIs.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Solved real-world financial issues (integer paise precision, audit journaling).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Live production deployment ready on cloud platforms.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FINAL ASSESSMENT &amp; QUESTION / ANSWER SESSION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Conclusion &amp; Future Enhancements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Arial"/>
              </a:defRPr>
            </a:pPr>
            <a:r>
              <a:t>Future Scope &amp; Extensions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F8FAFC"/>
                </a:solidFill>
              </a:rPr>
              <a:t>• Tree-Based Indexing: </a:t>
            </a:r>
            <a:r>
              <a:rPr sz="1300">
                <a:solidFill>
                  <a:srgbClr val="94A3B8"/>
                </a:solidFill>
              </a:rPr>
              <a:t>Implement AVL Trees and B+ Trees for O(log n) multi-key database indexing on high-volume account clusters.</a:t>
            </a:r>
          </a:p>
          <a:p>
            <a:r>
              <a:rPr b="1" sz="1300">
                <a:solidFill>
                  <a:srgbClr val="F8FAFC"/>
                </a:solidFill>
              </a:rPr>
              <a:t>• Multi-Threaded Concurrency: </a:t>
            </a:r>
            <a:r>
              <a:rPr sz="1300">
                <a:solidFill>
                  <a:srgbClr val="94A3B8"/>
                </a:solidFill>
              </a:rPr>
              <a:t>Introduce POSIX threads / C++11 std::mutex locks for multi-teller concurrent transaction safety.</a:t>
            </a:r>
          </a:p>
          <a:p>
            <a:r>
              <a:rPr b="1" sz="1300">
                <a:solidFill>
                  <a:srgbClr val="F8FAFC"/>
                </a:solidFill>
              </a:rPr>
              <a:t>• Fraud Detection AI: </a:t>
            </a:r>
            <a:r>
              <a:rPr sz="1300">
                <a:solidFill>
                  <a:srgbClr val="94A3B8"/>
                </a:solidFill>
              </a:rPr>
              <a:t>Integrate graph data structures and anomaly detection algorithms to identify suspicious withdrawal patterns.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63040"/>
            <a:ext cx="5120640" cy="4846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26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Arial"/>
              </a:defRPr>
            </a:pPr>
            <a:r>
              <a:t>Thank You &amp; Evaluation Q&amp;A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F59E0B"/>
                </a:solidFill>
              </a:defRPr>
            </a:pPr>
            <a:r>
              <a:t>Project Summary:</a:t>
            </a:r>
          </a:p>
          <a:p>
            <a:r>
              <a:rPr b="1" sz="1300">
                <a:solidFill>
                  <a:srgbClr val="F8FAFC"/>
                </a:solidFill>
              </a:rPr>
              <a:t>• GitHub Repository: </a:t>
            </a:r>
            <a:r>
              <a:rPr sz="1300">
                <a:solidFill>
                  <a:srgbClr val="94A3B8"/>
                </a:solidFill>
              </a:rPr>
              <a:t>github.com/manikantareddemoni-glitch/bank-management-system</a:t>
            </a:r>
          </a:p>
          <a:p>
            <a:r>
              <a:rPr b="1" sz="1300">
                <a:solidFill>
                  <a:srgbClr val="F8FAFC"/>
                </a:solidFill>
              </a:rPr>
              <a:t>• Live Web Deployment: </a:t>
            </a:r>
            <a:r>
              <a:rPr sz="1300">
                <a:solidFill>
                  <a:srgbClr val="94A3B8"/>
                </a:solidFill>
              </a:rPr>
              <a:t>Vercel &amp; Render Cloud Dual-Sync</a:t>
            </a:r>
          </a:p>
          <a:p>
            <a:r>
              <a:rPr b="1" sz="1300">
                <a:solidFill>
                  <a:srgbClr val="F8FAFC"/>
                </a:solidFill>
              </a:rPr>
              <a:t>• Languages Used: </a:t>
            </a:r>
            <a:r>
              <a:rPr sz="1300">
                <a:solidFill>
                  <a:srgbClr val="94A3B8"/>
                </a:solidFill>
              </a:rPr>
              <a:t>C++20, JavaScript (ES6+), Node.js, HTML5/CSS3</a:t>
            </a:r>
          </a:p>
          <a:p>
            <a:r>
              <a:rPr b="1" sz="1300">
                <a:solidFill>
                  <a:srgbClr val="F8FAFC"/>
                </a:solidFill>
              </a:rPr>
              <a:t>• Open Floor: </a:t>
            </a:r>
            <a:r>
              <a:rPr sz="1300">
                <a:solidFill>
                  <a:srgbClr val="94A3B8"/>
                </a:solidFill>
              </a:rPr>
              <a:t>We welcome any questions, faculty feedback, and algorithmic evaluations!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