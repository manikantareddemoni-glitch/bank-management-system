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Calibri"/>
              </a:defRPr>
            </a:pPr>
            <a:r>
              <a:t>CS207 DATA STRUCTURES &amp; ALGORITHMS</a:t>
            </a:r>
          </a:p>
          <a:p>
            <a:pPr>
              <a:spcBef>
                <a:spcPts val="800"/>
              </a:spcBef>
              <a:spcAft>
                <a:spcPts val="16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BANK MANAGEMENT</a:t>
            </a:r>
            <a:br/>
            <a:r>
              <a:t>SYSTEM</a:t>
            </a:r>
          </a:p>
          <a:p>
            <a:pPr>
              <a:spcBef>
                <a:spcPts val="1400"/>
              </a:spcBef>
              <a:spcAft>
                <a:spcPts val="800"/>
              </a:spcAft>
              <a:defRPr sz="1300" b="1">
                <a:solidFill>
                  <a:srgbClr val="34D399"/>
                </a:solidFill>
                <a:latin typeface="Calibri"/>
              </a:defRPr>
            </a:pPr>
            <a:r>
              <a:t>GROUP MEMBERS: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Manikanta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Lokesh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Anil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Shishira</a:t>
            </a:r>
          </a:p>
          <a:p>
            <a:pPr>
              <a:spcAft>
                <a:spcPts val="40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  Chathwik</a:t>
            </a:r>
          </a:p>
        </p:txBody>
      </p:sp>
      <p:pic>
        <p:nvPicPr>
          <p:cNvPr id="4" name="Picture 3" descr="banking_hero_3d_17910458178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097280"/>
            <a:ext cx="4663440" cy="47548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3628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  <a:p>
            <a:pPr>
              <a:defRPr sz="1300">
                <a:solidFill>
                  <a:srgbClr val="38BDF8"/>
                </a:solidFill>
                <a:latin typeface="Calibri"/>
              </a:defRPr>
            </a:pPr>
            <a:r>
              <a:t>Introduction &amp; Purpose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</a:pPr>
            <a:r>
              <a:rPr b="1" sz="1600">
                <a:solidFill>
                  <a:srgbClr val="38BDF8"/>
                </a:solidFill>
              </a:rPr>
              <a:t>•  Core Objective: </a:t>
            </a:r>
            <a:r>
              <a:rPr sz="1600">
                <a:solidFill>
                  <a:srgbClr val="FFFFFF"/>
                </a:solidFill>
              </a:rPr>
              <a:t>Build a unified, full-stack banking engine applying core Data Structures &amp; Algorithms.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8BDF8"/>
                </a:solidFill>
              </a:rPr>
              <a:t>•  Dual Architecture: </a:t>
            </a:r>
            <a:r>
              <a:rPr sz="1600">
                <a:solidFill>
                  <a:srgbClr val="FFFFFF"/>
                </a:solidFill>
              </a:rPr>
              <a:t>High-performance modular C++ engine paired with a modern React web dashboard.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8BDF8"/>
                </a:solidFill>
              </a:rPr>
              <a:t>•  100% Syllabus Coverage: </a:t>
            </a:r>
            <a:r>
              <a:rPr sz="1600">
                <a:solidFill>
                  <a:srgbClr val="FFFFFF"/>
                </a:solidFill>
              </a:rPr>
              <a:t>Implements Structs, Searching, Sorting, 2D Matrices, Strings, Stacks, Queues, and STL.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8BDF8"/>
                </a:solidFill>
              </a:rPr>
              <a:t>•  Financial Precision: </a:t>
            </a:r>
            <a:r>
              <a:rPr sz="1600">
                <a:solidFill>
                  <a:srgbClr val="FFFFFF"/>
                </a:solidFill>
              </a:rPr>
              <a:t>Integer paise arithmetic (`balancePaise`) eliminates floating-point rounding errors.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8BDF8"/>
                </a:solidFill>
              </a:rPr>
              <a:t>•  Cloud Persistence: </a:t>
            </a:r>
            <a:r>
              <a:rPr sz="1600">
                <a:solidFill>
                  <a:srgbClr val="FFFFFF"/>
                </a:solidFill>
              </a:rPr>
              <a:t>MongoDB Atlas cloud storage with automated localhost fallback (`data.json`).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3628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  <a:p>
            <a:pPr>
              <a:defRPr sz="1300">
                <a:solidFill>
                  <a:srgbClr val="38BDF8"/>
                </a:solidFill>
                <a:latin typeface="Calibri"/>
              </a:defRPr>
            </a:pPr>
            <a:r>
              <a:t>Multi-Tier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</a:pPr>
            <a:r>
              <a:rPr b="1" sz="1600">
                <a:solidFill>
                  <a:srgbClr val="FBBF24"/>
                </a:solidFill>
              </a:rPr>
              <a:t>•  1. Core Engine (C++): </a:t>
            </a:r>
            <a:r>
              <a:rPr sz="1600">
                <a:solidFill>
                  <a:srgbClr val="FFFFFF"/>
                </a:solidFill>
              </a:rPr>
              <a:t>Modular 5-student architecture (`bank.h`, `student1.cpp` to `student5.cpp`).</a:t>
            </a:r>
          </a:p>
          <a:p>
            <a:pPr>
              <a:spcAft>
                <a:spcPts val="2000"/>
              </a:spcAft>
            </a:pPr>
            <a:r>
              <a:rPr b="1" sz="1600">
                <a:solidFill>
                  <a:srgbClr val="FBBF24"/>
                </a:solidFill>
              </a:rPr>
              <a:t>•  2. REST API (Node.js &amp; Express): </a:t>
            </a:r>
            <a:r>
              <a:rPr sz="1600">
                <a:solidFill>
                  <a:srgbClr val="FFFFFF"/>
                </a:solidFill>
              </a:rPr>
              <a:t>Endpoints for account onboarding, deposits, withdrawals, and ledger streaming.</a:t>
            </a:r>
          </a:p>
          <a:p>
            <a:pPr>
              <a:spcAft>
                <a:spcPts val="2000"/>
              </a:spcAft>
            </a:pPr>
            <a:r>
              <a:rPr b="1" sz="1600">
                <a:solidFill>
                  <a:srgbClr val="FBBF24"/>
                </a:solidFill>
              </a:rPr>
              <a:t>•  3. Web Frontend (React 19 + Vite 8): </a:t>
            </a:r>
            <a:r>
              <a:rPr sz="1600">
                <a:solidFill>
                  <a:srgbClr val="FFFFFF"/>
                </a:solidFill>
              </a:rPr>
              <a:t>Glassmorphic dark dashboard with initial 6-record pagination and analytics.</a:t>
            </a:r>
          </a:p>
          <a:p>
            <a:pPr>
              <a:spcAft>
                <a:spcPts val="2000"/>
              </a:spcAft>
            </a:pPr>
            <a:r>
              <a:rPr b="1" sz="1600">
                <a:solidFill>
                  <a:srgbClr val="FBBF24"/>
                </a:solidFill>
              </a:rPr>
              <a:t>•  4. Database (MongoDB Atlas): </a:t>
            </a:r>
            <a:r>
              <a:rPr sz="1600">
                <a:solidFill>
                  <a:srgbClr val="FFFFFF"/>
                </a:solidFill>
              </a:rPr>
              <a:t>Dual-sync cloud cluster persistence with automatic offline recovery.</a:t>
            </a:r>
          </a:p>
        </p:txBody>
      </p:sp>
    </p:spTree>
  </p:cSld>
  <p:clrMapOvr>
    <a:masterClrMapping/>
  </p:clrMapOvr>
  <p:transition spd="fast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3628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Team Division &amp; Student Responsibilities</a:t>
            </a:r>
          </a:p>
          <a:p>
            <a:pPr>
              <a:defRPr sz="1300">
                <a:solidFill>
                  <a:srgbClr val="38BDF8"/>
                </a:solidFill>
                <a:latin typeface="Calibri"/>
              </a:defRPr>
            </a:pPr>
            <a:r>
              <a:t>5-Student Modular Work Breakdown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600"/>
              </a:spcAft>
            </a:pPr>
            <a:r>
              <a:rPr b="1" sz="1600">
                <a:solidFill>
                  <a:srgbClr val="38BDF8"/>
                </a:solidFill>
              </a:rPr>
              <a:t>•  Student 1 (Manikanta): </a:t>
            </a:r>
            <a:r>
              <a:rPr sz="1600">
                <a:solidFill>
                  <a:srgbClr val="FFFFFF"/>
                </a:solidFill>
              </a:rPr>
              <a:t>Account Management, Composite Structures &amp; Tabular Reporting (`student1.cpp`)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38BDF8"/>
                </a:solidFill>
              </a:rPr>
              <a:t>•  Student 2 (Lokesh): </a:t>
            </a:r>
            <a:r>
              <a:rPr sz="1600">
                <a:solidFill>
                  <a:srgbClr val="FFFFFF"/>
                </a:solidFill>
              </a:rPr>
              <a:t>Linear Search, Binary Search, Deposit/Withdraw Transactions (`student2.cpp`)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38BDF8"/>
                </a:solidFill>
              </a:rPr>
              <a:t>•  Student 3 (Anil): </a:t>
            </a:r>
            <a:r>
              <a:rPr sz="1600">
                <a:solidFill>
                  <a:srgbClr val="FFFFFF"/>
                </a:solidFill>
              </a:rPr>
              <a:t>Insertion Sort (Asc/Desc) &amp; 2D Matrix Cash Flow Algebra (`student3.cpp`)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38BDF8"/>
                </a:solidFill>
              </a:rPr>
              <a:t>•  Student 4 (Shishira): </a:t>
            </a:r>
            <a:r>
              <a:rPr sz="1600">
                <a:solidFill>
                  <a:srgbClr val="FFFFFF"/>
                </a:solidFill>
              </a:rPr>
              <a:t>String Algorithms, Frequency Analysis &amp; Stack ADT (`student4.cpp`)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38BDF8"/>
                </a:solidFill>
              </a:rPr>
              <a:t>•  Student 5 (Chathwik): </a:t>
            </a:r>
            <a:r>
              <a:rPr sz="1600">
                <a:solidFill>
                  <a:srgbClr val="FFFFFF"/>
                </a:solidFill>
              </a:rPr>
              <a:t>Linear &amp; Circular Queue ADT, STL Containers &amp; Main Controller (`student5.cpp`)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3628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Student 1: Manikanta</a:t>
            </a:r>
          </a:p>
          <a:p>
            <a:pPr>
              <a:defRPr sz="1300">
                <a:solidFill>
                  <a:srgbClr val="38BDF8"/>
                </a:solidFill>
                <a:latin typeface="Calibri"/>
              </a:defRPr>
            </a:pPr>
            <a:r>
              <a:t>Account Management &amp; Data Structures (Modules I, II, VI)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Composite Structures: </a:t>
            </a:r>
            <a:r>
              <a:rPr sz="1600">
                <a:solidFill>
                  <a:srgbClr val="FFFFFF"/>
                </a:solidFill>
              </a:rPr>
              <a:t>Nested `Date` and `Address` structs inside the core `Customer` entity.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Demo Initialization (`seedInitialData`): </a:t>
            </a:r>
            <a:r>
              <a:rPr sz="1600">
                <a:solidFill>
                  <a:srgbClr val="FFFFFF"/>
                </a:solidFill>
              </a:rPr>
              <a:t>Pre-loads 6 benchmark accounts and opening ledger logs.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Account Onboarding (`addNewCustomer`): </a:t>
            </a:r>
            <a:r>
              <a:rPr sz="1600">
                <a:solidFill>
                  <a:srgbClr val="FFFFFF"/>
                </a:solidFill>
              </a:rPr>
              <a:t>Enforces ₹500 minimum initial deposit and duplicate phone checks.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Formatted Reports (`displayAllCustomers`): </a:t>
            </a:r>
            <a:r>
              <a:rPr sz="1600">
                <a:solidFill>
                  <a:srgbClr val="FFFFFF"/>
                </a:solidFill>
              </a:rPr>
              <a:t>Tabular console formatting with `&lt;iomanip&gt;` (`setw`, `fixed`).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3628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Student 2: Lokesh</a:t>
            </a:r>
          </a:p>
          <a:p>
            <a:pPr>
              <a:defRPr sz="1300">
                <a:solidFill>
                  <a:srgbClr val="38BDF8"/>
                </a:solidFill>
                <a:latin typeface="Calibri"/>
              </a:defRPr>
            </a:pPr>
            <a:r>
              <a:t>Financial Transactions &amp; Search Algorithms (Modules II, III, VII)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Linear Search (O(n)): </a:t>
            </a:r>
            <a:r>
              <a:rPr sz="1600">
                <a:solidFill>
                  <a:srgbClr val="FFFFFF"/>
                </a:solidFill>
              </a:rPr>
              <a:t>Sequential scan across customer phone numbers for duplicate detection.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Binary Search (O(log n)): </a:t>
            </a:r>
            <a:r>
              <a:rPr sz="1600">
                <a:solidFill>
                  <a:srgbClr val="FFFFFF"/>
                </a:solidFill>
              </a:rPr>
              <a:t>Divide-and-conquer search on sorted account numbers for instant lookup.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Deposit &amp; Withdraw Engine: </a:t>
            </a:r>
            <a:r>
              <a:rPr sz="1600">
                <a:solidFill>
                  <a:srgbClr val="FFFFFF"/>
                </a:solidFill>
              </a:rPr>
              <a:t>Validates positive amount and enforces ₹500 minimum balance for Savings.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Audit History Ledger: </a:t>
            </a:r>
            <a:r>
              <a:rPr sz="1600">
                <a:solidFill>
                  <a:srgbClr val="FFFFFF"/>
                </a:solidFill>
              </a:rPr>
              <a:t>Generates chronological transaction logs for account deposits and withdrawals.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3628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Student 3: Anil</a:t>
            </a:r>
          </a:p>
          <a:p>
            <a:pPr>
              <a:defRPr sz="1300">
                <a:solidFill>
                  <a:srgbClr val="38BDF8"/>
                </a:solidFill>
                <a:latin typeface="Calibri"/>
              </a:defRPr>
            </a:pPr>
            <a:r>
              <a:t>Sorting Algorithms &amp; 2D Matrix Math (Modules III, IV, VII)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Insertion Sort (O(n^2)): </a:t>
            </a:r>
            <a:r>
              <a:rPr sz="1600">
                <a:solidFill>
                  <a:srgbClr val="FFFFFF"/>
                </a:solidFill>
              </a:rPr>
              <a:t>In-place balance sorting supporting Ascending and Descending order.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Portfolio Rank Ordering: </a:t>
            </a:r>
            <a:r>
              <a:rPr sz="1600">
                <a:solidFill>
                  <a:srgbClr val="FFFFFF"/>
                </a:solidFill>
              </a:rPr>
              <a:t>Enables bank managers to identify high-net-worth customer tiers.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2D Numeric Matrix Operations: </a:t>
            </a:r>
            <a:r>
              <a:rPr sz="1600">
                <a:solidFill>
                  <a:srgbClr val="FFFFFF"/>
                </a:solidFill>
              </a:rPr>
              <a:t>Simulates regional branch cash flow using 2x2 integer arrays.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Matrix Algebra (Module IV): </a:t>
            </a:r>
            <a:r>
              <a:rPr sz="1600">
                <a:solidFill>
                  <a:srgbClr val="FFFFFF"/>
                </a:solidFill>
              </a:rPr>
              <a:t>Implements Matrix Addition, Subtraction, Multiplication, and Transposition.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3628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Student 4: Shishira</a:t>
            </a:r>
          </a:p>
          <a:p>
            <a:pPr>
              <a:defRPr sz="1300">
                <a:solidFill>
                  <a:srgbClr val="38BDF8"/>
                </a:solidFill>
                <a:latin typeface="Calibri"/>
              </a:defRPr>
            </a:pPr>
            <a:r>
              <a:t>String Algorithms &amp; Stack ADT (Modules V, VIII)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In-Place String Reversal: </a:t>
            </a:r>
            <a:r>
              <a:rPr sz="1600">
                <a:solidFill>
                  <a:srgbClr val="FFFFFF"/>
                </a:solidFill>
              </a:rPr>
              <a:t>Two-pointer swap algorithm reversing text in O(n) time and O(1) space.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Frequency Histogram: </a:t>
            </a:r>
            <a:r>
              <a:rPr sz="1600">
                <a:solidFill>
                  <a:srgbClr val="FFFFFF"/>
                </a:solidFill>
              </a:rPr>
              <a:t>Direct-address 256-bucket ASCII array counting character distribution.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Stack ADT (LIFO): </a:t>
            </a:r>
            <a:r>
              <a:rPr sz="1600">
                <a:solidFill>
                  <a:srgbClr val="FFFFFF"/>
                </a:solidFill>
              </a:rPr>
              <a:t>Array-based stack implementing `push`, `pop`, `isFull`, and `isEmpty`.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Parenthesis Balance Checker: </a:t>
            </a:r>
            <a:r>
              <a:rPr sz="1600">
                <a:solidFill>
                  <a:srgbClr val="FFFFFF"/>
                </a:solidFill>
              </a:rPr>
              <a:t>Stack application validating mathematical formula syntax in calculations.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3628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Student 5: Chathwik</a:t>
            </a:r>
          </a:p>
          <a:p>
            <a:pPr>
              <a:defRPr sz="1300">
                <a:solidFill>
                  <a:srgbClr val="38BDF8"/>
                </a:solidFill>
                <a:latin typeface="Calibri"/>
              </a:defRPr>
            </a:pPr>
            <a:r>
              <a:t>Queue ADT, STL Containers &amp; Driver Menu (Modules I, II, IX, 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Linear Queue (FIFO): </a:t>
            </a:r>
            <a:r>
              <a:rPr sz="1600">
                <a:solidFill>
                  <a:srgbClr val="FFFFFF"/>
                </a:solidFill>
              </a:rPr>
              <a:t>Bank teller token queue servicing customers First-In, First-Out.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Circular Queue (Modulo %): </a:t>
            </a:r>
            <a:r>
              <a:rPr sz="1600">
                <a:solidFill>
                  <a:srgbClr val="FFFFFF"/>
                </a:solidFill>
              </a:rPr>
              <a:t>Recycles memory using `(rear + 1) % MAX` to prevent false overflow.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STL Containers (Module X): </a:t>
            </a:r>
            <a:r>
              <a:rPr sz="1600">
                <a:solidFill>
                  <a:srgbClr val="FFFFFF"/>
                </a:solidFill>
              </a:rPr>
              <a:t>Demonstrates `std::vector`, `std::deque`, `std::set`, and `std::map`.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Main Application Driver: </a:t>
            </a:r>
            <a:r>
              <a:rPr sz="1600">
                <a:solidFill>
                  <a:srgbClr val="FFFFFF"/>
                </a:solidFill>
              </a:rPr>
              <a:t>14-option interactive console controller routing all module actions.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3628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 Structures &amp; Algorithmic Mapping</a:t>
            </a:r>
          </a:p>
          <a:p>
            <a:pPr>
              <a:defRPr sz="1300">
                <a:solidFill>
                  <a:srgbClr val="38BDF8"/>
                </a:solidFill>
                <a:latin typeface="Calibri"/>
              </a:defRPr>
            </a:pPr>
            <a:r>
              <a:t>Core Algorithmic Foundations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</a:pPr>
            <a:r>
              <a:rPr b="1" sz="1500">
                <a:solidFill>
                  <a:srgbClr val="38BDF8"/>
                </a:solidFill>
              </a:rPr>
              <a:t>•  Binary Search Tree Logic: </a:t>
            </a:r>
            <a:r>
              <a:rPr sz="1500">
                <a:solidFill>
                  <a:srgbClr val="FFFFFF"/>
                </a:solidFill>
              </a:rPr>
              <a:t>Fast divide-and-conquer lookup in O(log n) time.</a:t>
            </a:r>
          </a:p>
          <a:p>
            <a:pPr>
              <a:spcAft>
                <a:spcPts val="1800"/>
              </a:spcAft>
            </a:pPr>
            <a:r>
              <a:rPr b="1" sz="1500">
                <a:solidFill>
                  <a:srgbClr val="38BDF8"/>
                </a:solidFill>
              </a:rPr>
              <a:t>•  Stack &amp; Queue Primitives: </a:t>
            </a:r>
            <a:r>
              <a:rPr sz="1500">
                <a:solidFill>
                  <a:srgbClr val="FFFFFF"/>
                </a:solidFill>
              </a:rPr>
              <a:t>LIFO expression checks and FIFO token dispatching.</a:t>
            </a:r>
          </a:p>
          <a:p>
            <a:pPr>
              <a:spcAft>
                <a:spcPts val="1800"/>
              </a:spcAft>
            </a:pPr>
            <a:r>
              <a:rPr b="1" sz="1500">
                <a:solidFill>
                  <a:srgbClr val="38BDF8"/>
                </a:solidFill>
              </a:rPr>
              <a:t>•  Sorting &amp; Matrix Algebra: </a:t>
            </a:r>
            <a:r>
              <a:rPr sz="1500">
                <a:solidFill>
                  <a:srgbClr val="FFFFFF"/>
                </a:solidFill>
              </a:rPr>
              <a:t>In-place insertion sort and 2D cash flow matrix ops.</a:t>
            </a:r>
          </a:p>
          <a:p>
            <a:pPr>
              <a:spcAft>
                <a:spcPts val="1800"/>
              </a:spcAft>
            </a:pPr>
            <a:r>
              <a:rPr b="1" sz="1500">
                <a:solidFill>
                  <a:srgbClr val="38BDF8"/>
                </a:solidFill>
              </a:rPr>
              <a:t>•  STL Red-Black Maps: </a:t>
            </a:r>
            <a:r>
              <a:rPr sz="1500">
                <a:solidFill>
                  <a:srgbClr val="FFFFFF"/>
                </a:solidFill>
              </a:rPr>
              <a:t>High-speed key-value linking of Account No to Name.</a:t>
            </a:r>
          </a:p>
        </p:txBody>
      </p:sp>
      <p:pic>
        <p:nvPicPr>
          <p:cNvPr id="6" name="Picture 5" descr="dsa_algorithms_3d_17910458414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663440" cy="4572000"/>
          </a:xfrm>
          <a:prstGeom prst="rect">
            <a:avLst/>
          </a:prstGeom>
        </p:spPr>
      </p:pic>
    </p:spTree>
  </p:cSld>
  <p:clrMapOvr>
    <a:masterClrMapping/>
  </p:clrMapOvr>
  <p:transition spd="fast">
    <p:wipe dir="r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3628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Modern Web Dashboard &amp; User Experience</a:t>
            </a:r>
          </a:p>
          <a:p>
            <a:pPr>
              <a:defRPr sz="1300">
                <a:solidFill>
                  <a:srgbClr val="38BDF8"/>
                </a:solidFill>
                <a:latin typeface="Calibri"/>
              </a:defRPr>
            </a:pPr>
            <a:r>
              <a:t>React 19 + Vite 8 UI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</a:pPr>
            <a:r>
              <a:rPr b="1" sz="1500">
                <a:solidFill>
                  <a:srgbClr val="FBBF24"/>
                </a:solidFill>
              </a:rPr>
              <a:t>•  Initial 6-Account Display: </a:t>
            </a:r>
            <a:r>
              <a:rPr sz="1500">
                <a:solidFill>
                  <a:srgbClr val="FFFFFF"/>
                </a:solidFill>
              </a:rPr>
              <a:t>Renders only first 6 accounts on load for visual cleanliness.</a:t>
            </a:r>
          </a:p>
          <a:p>
            <a:pPr>
              <a:spcAft>
                <a:spcPts val="1800"/>
              </a:spcAft>
            </a:pPr>
            <a:r>
              <a:rPr b="1" sz="1500">
                <a:solidFill>
                  <a:srgbClr val="FBBF24"/>
                </a:solidFill>
              </a:rPr>
              <a:t>•  Show More / Show Less: </a:t>
            </a:r>
            <a:r>
              <a:rPr sz="1500">
                <a:solidFill>
                  <a:srgbClr val="FFFFFF"/>
                </a:solidFill>
              </a:rPr>
              <a:t>Interactive toggle expanding to show remaining accounts.</a:t>
            </a:r>
          </a:p>
          <a:p>
            <a:pPr>
              <a:spcAft>
                <a:spcPts val="1800"/>
              </a:spcAft>
            </a:pPr>
            <a:r>
              <a:rPr b="1" sz="1500">
                <a:solidFill>
                  <a:srgbClr val="FBBF24"/>
                </a:solidFill>
              </a:rPr>
              <a:t>•  Money Studio: </a:t>
            </a:r>
            <a:r>
              <a:rPr sz="1500">
                <a:solidFill>
                  <a:srgbClr val="FFFFFF"/>
                </a:solidFill>
              </a:rPr>
              <a:t>Deposit and withdraw cards with quick preset amount pills.</a:t>
            </a:r>
          </a:p>
          <a:p>
            <a:pPr>
              <a:spcAft>
                <a:spcPts val="1800"/>
              </a:spcAft>
            </a:pPr>
            <a:r>
              <a:rPr b="1" sz="1500">
                <a:solidFill>
                  <a:srgbClr val="FBBF24"/>
                </a:solidFill>
              </a:rPr>
              <a:t>•  Live Audit History: </a:t>
            </a:r>
            <a:r>
              <a:rPr sz="1500">
                <a:solidFill>
                  <a:srgbClr val="FFFFFF"/>
                </a:solidFill>
              </a:rPr>
              <a:t>Instant transaction ledger search with real-time feedback.</a:t>
            </a:r>
          </a:p>
        </p:txBody>
      </p:sp>
      <p:pic>
        <p:nvPicPr>
          <p:cNvPr id="6" name="Picture 5" descr="web_dashboard_3d_17910458913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663440" cy="4572000"/>
          </a:xfrm>
          <a:prstGeom prst="rect">
            <a:avLst/>
          </a:prstGeom>
        </p:spPr>
      </p:pic>
    </p:spTree>
  </p:cSld>
  <p:clrMapOvr>
    <a:masterClrMapping/>
  </p:clrMapOvr>
  <p:transition spd="fast">
    <p:push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3628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Cloud Persistence &amp; Dual-Sync Engine</a:t>
            </a:r>
          </a:p>
          <a:p>
            <a:pPr>
              <a:defRPr sz="1300">
                <a:solidFill>
                  <a:srgbClr val="38BDF8"/>
                </a:solidFill>
                <a:latin typeface="Calibri"/>
              </a:defRPr>
            </a:pPr>
            <a:r>
              <a:t>MongoDB Atlas &amp; Local 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</a:pPr>
            <a:r>
              <a:rPr b="1" sz="1500">
                <a:solidFill>
                  <a:srgbClr val="34D399"/>
                </a:solidFill>
              </a:rPr>
              <a:t>•  MongoDB Atlas Cloud: </a:t>
            </a:r>
            <a:r>
              <a:rPr sz="1500">
                <a:solidFill>
                  <a:srgbClr val="FFFFFF"/>
                </a:solidFill>
              </a:rPr>
              <a:t>Primary cloud storage for accounts and audit ledger.</a:t>
            </a:r>
          </a:p>
          <a:p>
            <a:pPr>
              <a:spcAft>
                <a:spcPts val="1800"/>
              </a:spcAft>
            </a:pPr>
            <a:r>
              <a:rPr b="1" sz="1500">
                <a:solidFill>
                  <a:srgbClr val="34D399"/>
                </a:solidFill>
              </a:rPr>
              <a:t>•  Zero-Downtime Fallback: </a:t>
            </a:r>
            <a:r>
              <a:rPr sz="1500">
                <a:solidFill>
                  <a:srgbClr val="FFFFFF"/>
                </a:solidFill>
              </a:rPr>
              <a:t>Auto-switches to local `data.json` if cloud connection drops.</a:t>
            </a:r>
          </a:p>
          <a:p>
            <a:pPr>
              <a:spcAft>
                <a:spcPts val="1800"/>
              </a:spcAft>
            </a:pPr>
            <a:r>
              <a:rPr b="1" sz="1500">
                <a:solidFill>
                  <a:srgbClr val="34D399"/>
                </a:solidFill>
              </a:rPr>
              <a:t>•  Integer Currency Accuracy: </a:t>
            </a:r>
            <a:r>
              <a:rPr sz="1500">
                <a:solidFill>
                  <a:srgbClr val="FFFFFF"/>
                </a:solidFill>
              </a:rPr>
              <a:t>Calculates in integer paise to eliminate floating-point errors.</a:t>
            </a:r>
          </a:p>
          <a:p>
            <a:pPr>
              <a:spcAft>
                <a:spcPts val="1800"/>
              </a:spcAft>
            </a:pPr>
            <a:r>
              <a:rPr b="1" sz="1500">
                <a:solidFill>
                  <a:srgbClr val="34D399"/>
                </a:solidFill>
              </a:rPr>
              <a:t>•  One-Click Reconnect: </a:t>
            </a:r>
            <a:r>
              <a:rPr sz="1500">
                <a:solidFill>
                  <a:srgbClr val="FFFFFF"/>
                </a:solidFill>
              </a:rPr>
              <a:t>Instant cloud re-sync from web dashboard status indicator.</a:t>
            </a:r>
          </a:p>
        </p:txBody>
      </p:sp>
      <p:pic>
        <p:nvPicPr>
          <p:cNvPr id="6" name="Picture 5" descr="cloud_database_3d_17910458663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4572000" cy="4572000"/>
          </a:xfrm>
          <a:prstGeom prst="rect">
            <a:avLst/>
          </a:prstGeom>
        </p:spPr>
      </p:pic>
    </p:spTree>
  </p:cSld>
  <p:clrMapOvr>
    <a:masterClrMapping/>
  </p:clrMapOvr>
  <p:transition spd="fast">
    <p:push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3628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Algorithm Complexity Summary</a:t>
            </a:r>
          </a:p>
          <a:p>
            <a:pPr>
              <a:defRPr sz="1300">
                <a:solidFill>
                  <a:srgbClr val="38BDF8"/>
                </a:solidFill>
                <a:latin typeface="Calibri"/>
              </a:defRPr>
            </a:pPr>
            <a:r>
              <a:t>Theoretical &amp; Practical Benchmarks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1036289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103120"/>
                <a:gridCol w="2103120"/>
                <a:gridCol w="3230575"/>
              </a:tblGrid>
              <a:tr h="627017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Operation / Algorithm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Time Complexity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Space Complexity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6366F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Linear Search (Phone)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Checking duplicate phone numbers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Binary Search (Acc No)</a:t>
                      </a:r>
                    </a:p>
                  </a:txBody>
                  <a:tcPr>
                    <a:solidFill>
                      <a:srgbClr val="1822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O(log n)</a:t>
                      </a:r>
                    </a:p>
                  </a:txBody>
                  <a:tcPr>
                    <a:solidFill>
                      <a:srgbClr val="1822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822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Instant account lookup &amp; transactions</a:t>
                      </a:r>
                    </a:p>
                  </a:txBody>
                  <a:tcPr>
                    <a:solidFill>
                      <a:srgbClr val="18223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Insertion Sort (Balance)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O(n^2)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Sorting customer accounts by balance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Matrix Operations (2x2)</a:t>
                      </a:r>
                    </a:p>
                  </a:txBody>
                  <a:tcPr>
                    <a:solidFill>
                      <a:srgbClr val="1822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O(N^3) / O(N^2)</a:t>
                      </a:r>
                    </a:p>
                  </a:txBody>
                  <a:tcPr>
                    <a:solidFill>
                      <a:srgbClr val="1822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O(N^2)</a:t>
                      </a:r>
                    </a:p>
                  </a:txBody>
                  <a:tcPr>
                    <a:solidFill>
                      <a:srgbClr val="1822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Branch liquidity &amp; cash flow</a:t>
                      </a:r>
                    </a:p>
                  </a:txBody>
                  <a:tcPr>
                    <a:solidFill>
                      <a:srgbClr val="18223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Stack Push / Pop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Parentheses formula validation</a:t>
                      </a:r>
                    </a:p>
                  </a:txBody>
                  <a:tcPr>
                    <a:solidFill>
                      <a:srgbClr val="10182C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Queue Enqueue / Dequeue</a:t>
                      </a:r>
                    </a:p>
                  </a:txBody>
                  <a:tcPr>
                    <a:solidFill>
                      <a:srgbClr val="1822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O(1)</a:t>
                      </a:r>
                    </a:p>
                  </a:txBody>
                  <a:tcPr>
                    <a:solidFill>
                      <a:srgbClr val="1822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O(N)</a:t>
                      </a:r>
                    </a:p>
                  </a:txBody>
                  <a:tcPr>
                    <a:solidFill>
                      <a:srgbClr val="1822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Bank teller token line</a:t>
                      </a:r>
                    </a:p>
                  </a:txBody>
                  <a:tcPr>
                    <a:solidFill>
                      <a:srgbClr val="18223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>
    <p:wipe dir="r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457200"/>
            <a:ext cx="10362895" cy="2743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943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Conclusion &amp; Q&amp;A</a:t>
            </a:r>
          </a:p>
          <a:p>
            <a:pPr>
              <a:defRPr sz="1300">
                <a:solidFill>
                  <a:srgbClr val="38BDF8"/>
                </a:solidFill>
                <a:latin typeface="Calibri"/>
              </a:defRPr>
            </a:pPr>
            <a:r>
              <a:t>Summary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Complete Syllabus Coverage: </a:t>
            </a:r>
            <a:r>
              <a:rPr sz="1600">
                <a:solidFill>
                  <a:srgbClr val="FFFFFF"/>
                </a:solidFill>
              </a:rPr>
              <a:t>All 10 CS207 Data Structures modules implemented in C++.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Modular Team Execution: </a:t>
            </a:r>
            <a:r>
              <a:rPr sz="1600">
                <a:solidFill>
                  <a:srgbClr val="FFFFFF"/>
                </a:solidFill>
              </a:rPr>
              <a:t>Divided seamlessly among Manikanta, Lokesh, Anil, Shishira, Chathwik.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Full-Stack Integration: </a:t>
            </a:r>
            <a:r>
              <a:rPr sz="1600">
                <a:solidFill>
                  <a:srgbClr val="FFFFFF"/>
                </a:solidFill>
              </a:rPr>
              <a:t>Production-ready web dashboard with MongoDB cloud persistence.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Repository: </a:t>
            </a:r>
            <a:r>
              <a:rPr sz="1600">
                <a:solidFill>
                  <a:srgbClr val="FFFFFF"/>
                </a:solidFill>
              </a:rPr>
              <a:t>github.com/manikantareddemoni-glitch/bank-management-system</a:t>
            </a:r>
          </a:p>
          <a:p>
            <a:pPr>
              <a:spcAft>
                <a:spcPts val="1800"/>
              </a:spcAft>
            </a:pPr>
            <a:r>
              <a:rPr b="1" sz="1600">
                <a:solidFill>
                  <a:srgbClr val="34D399"/>
                </a:solidFill>
              </a:rPr>
              <a:t>•  Thank You: </a:t>
            </a:r>
            <a:r>
              <a:rPr sz="1600">
                <a:solidFill>
                  <a:srgbClr val="FFFFFF"/>
                </a:solidFill>
              </a:rPr>
              <a:t>Open for Faculty Evaluation &amp; Questions!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